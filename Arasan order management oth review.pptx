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4" d="100"/>
          <a:sy n="84" d="100"/>
        </p:scale>
        <p:origin x="142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1" i="0">
                <a:solidFill>
                  <a:schemeClr val="hlink"/>
                </a:solidFill>
                <a:latin typeface="Verdana"/>
                <a:cs typeface="Verdana"/>
              </a:defRPr>
            </a:lvl1pPr>
          </a:lstStyle>
          <a:p>
            <a:pPr marL="12700">
              <a:lnSpc>
                <a:spcPct val="100000"/>
              </a:lnSpc>
              <a:spcBef>
                <a:spcPts val="105"/>
              </a:spcBef>
            </a:pPr>
            <a:r>
              <a:rPr dirty="0"/>
              <a:t>21</a:t>
            </a:r>
            <a:r>
              <a:rPr spc="-20" dirty="0"/>
              <a:t> </a:t>
            </a:r>
            <a:r>
              <a:rPr dirty="0"/>
              <a:t>January</a:t>
            </a:r>
            <a:r>
              <a:rPr spc="-35" dirty="0"/>
              <a:t> </a:t>
            </a:r>
            <a:r>
              <a:rPr spc="-20" dirty="0"/>
              <a:t>2026</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1/21/2026</a:t>
            </a:fld>
            <a:endParaRPr lang="en-US"/>
          </a:p>
        </p:txBody>
      </p:sp>
      <p:sp>
        <p:nvSpPr>
          <p:cNvPr id="6" name="Holder 6"/>
          <p:cNvSpPr>
            <a:spLocks noGrp="1"/>
          </p:cNvSpPr>
          <p:nvPr>
            <p:ph type="sldNum" sz="quarter" idx="7"/>
          </p:nvPr>
        </p:nvSpPr>
        <p:spPr/>
        <p:txBody>
          <a:bodyPr lIns="0" tIns="0" rIns="0" bIns="0"/>
          <a:lstStyle>
            <a:lvl1pPr>
              <a:defRPr sz="1200" b="1" i="0">
                <a:solidFill>
                  <a:schemeClr val="tx1"/>
                </a:solidFill>
                <a:latin typeface="Verdana"/>
                <a:cs typeface="Verdana"/>
              </a:defRPr>
            </a:lvl1pPr>
          </a:lstStyle>
          <a:p>
            <a:pPr marL="38100">
              <a:lnSpc>
                <a:spcPct val="100000"/>
              </a:lnSpc>
              <a:spcBef>
                <a:spcPts val="105"/>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1" i="0">
                <a:solidFill>
                  <a:schemeClr val="hlink"/>
                </a:solidFill>
                <a:latin typeface="Verdana"/>
                <a:cs typeface="Verdana"/>
              </a:defRPr>
            </a:lvl1pPr>
          </a:lstStyle>
          <a:p>
            <a:pPr marL="12700">
              <a:lnSpc>
                <a:spcPct val="100000"/>
              </a:lnSpc>
              <a:spcBef>
                <a:spcPts val="105"/>
              </a:spcBef>
            </a:pPr>
            <a:r>
              <a:rPr dirty="0"/>
              <a:t>21</a:t>
            </a:r>
            <a:r>
              <a:rPr spc="-20" dirty="0"/>
              <a:t> </a:t>
            </a:r>
            <a:r>
              <a:rPr dirty="0"/>
              <a:t>January</a:t>
            </a:r>
            <a:r>
              <a:rPr spc="-35" dirty="0"/>
              <a:t> </a:t>
            </a:r>
            <a:r>
              <a:rPr spc="-20" dirty="0"/>
              <a:t>2026</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1/21/2026</a:t>
            </a:fld>
            <a:endParaRPr lang="en-US"/>
          </a:p>
        </p:txBody>
      </p:sp>
      <p:sp>
        <p:nvSpPr>
          <p:cNvPr id="6" name="Holder 6"/>
          <p:cNvSpPr>
            <a:spLocks noGrp="1"/>
          </p:cNvSpPr>
          <p:nvPr>
            <p:ph type="sldNum" sz="quarter" idx="7"/>
          </p:nvPr>
        </p:nvSpPr>
        <p:spPr/>
        <p:txBody>
          <a:bodyPr lIns="0" tIns="0" rIns="0" bIns="0"/>
          <a:lstStyle>
            <a:lvl1pPr>
              <a:defRPr sz="1200" b="1" i="0">
                <a:solidFill>
                  <a:schemeClr val="tx1"/>
                </a:solidFill>
                <a:latin typeface="Verdana"/>
                <a:cs typeface="Verdana"/>
              </a:defRPr>
            </a:lvl1pPr>
          </a:lstStyle>
          <a:p>
            <a:pPr marL="38100">
              <a:lnSpc>
                <a:spcPct val="100000"/>
              </a:lnSpc>
              <a:spcBef>
                <a:spcPts val="105"/>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1" i="0">
                <a:solidFill>
                  <a:schemeClr val="hlink"/>
                </a:solidFill>
                <a:latin typeface="Verdana"/>
                <a:cs typeface="Verdana"/>
              </a:defRPr>
            </a:lvl1pPr>
          </a:lstStyle>
          <a:p>
            <a:pPr marL="12700">
              <a:lnSpc>
                <a:spcPct val="100000"/>
              </a:lnSpc>
              <a:spcBef>
                <a:spcPts val="105"/>
              </a:spcBef>
            </a:pPr>
            <a:r>
              <a:rPr dirty="0"/>
              <a:t>21</a:t>
            </a:r>
            <a:r>
              <a:rPr spc="-20" dirty="0"/>
              <a:t> </a:t>
            </a:r>
            <a:r>
              <a:rPr dirty="0"/>
              <a:t>January</a:t>
            </a:r>
            <a:r>
              <a:rPr spc="-35" dirty="0"/>
              <a:t> </a:t>
            </a:r>
            <a:r>
              <a:rPr spc="-20" dirty="0"/>
              <a:t>2026</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1/21/2026</a:t>
            </a:fld>
            <a:endParaRPr lang="en-US"/>
          </a:p>
        </p:txBody>
      </p:sp>
      <p:sp>
        <p:nvSpPr>
          <p:cNvPr id="7" name="Holder 7"/>
          <p:cNvSpPr>
            <a:spLocks noGrp="1"/>
          </p:cNvSpPr>
          <p:nvPr>
            <p:ph type="sldNum" sz="quarter" idx="7"/>
          </p:nvPr>
        </p:nvSpPr>
        <p:spPr/>
        <p:txBody>
          <a:bodyPr lIns="0" tIns="0" rIns="0" bIns="0"/>
          <a:lstStyle>
            <a:lvl1pPr>
              <a:defRPr sz="1200" b="1" i="0">
                <a:solidFill>
                  <a:schemeClr val="tx1"/>
                </a:solidFill>
                <a:latin typeface="Verdana"/>
                <a:cs typeface="Verdana"/>
              </a:defRPr>
            </a:lvl1pPr>
          </a:lstStyle>
          <a:p>
            <a:pPr marL="38100">
              <a:lnSpc>
                <a:spcPct val="100000"/>
              </a:lnSpc>
              <a:spcBef>
                <a:spcPts val="105"/>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1" i="0">
                <a:solidFill>
                  <a:schemeClr val="hlink"/>
                </a:solidFill>
                <a:latin typeface="Verdana"/>
                <a:cs typeface="Verdana"/>
              </a:defRPr>
            </a:lvl1pPr>
          </a:lstStyle>
          <a:p>
            <a:pPr marL="12700">
              <a:lnSpc>
                <a:spcPct val="100000"/>
              </a:lnSpc>
              <a:spcBef>
                <a:spcPts val="105"/>
              </a:spcBef>
            </a:pPr>
            <a:r>
              <a:rPr dirty="0"/>
              <a:t>21</a:t>
            </a:r>
            <a:r>
              <a:rPr spc="-20" dirty="0"/>
              <a:t> </a:t>
            </a:r>
            <a:r>
              <a:rPr dirty="0"/>
              <a:t>January</a:t>
            </a:r>
            <a:r>
              <a:rPr spc="-35" dirty="0"/>
              <a:t> </a:t>
            </a:r>
            <a:r>
              <a:rPr spc="-20" dirty="0"/>
              <a:t>2026</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1/21/2026</a:t>
            </a:fld>
            <a:endParaRPr lang="en-US"/>
          </a:p>
        </p:txBody>
      </p:sp>
      <p:sp>
        <p:nvSpPr>
          <p:cNvPr id="5" name="Holder 5"/>
          <p:cNvSpPr>
            <a:spLocks noGrp="1"/>
          </p:cNvSpPr>
          <p:nvPr>
            <p:ph type="sldNum" sz="quarter" idx="7"/>
          </p:nvPr>
        </p:nvSpPr>
        <p:spPr/>
        <p:txBody>
          <a:bodyPr lIns="0" tIns="0" rIns="0" bIns="0"/>
          <a:lstStyle>
            <a:lvl1pPr>
              <a:defRPr sz="1200" b="1" i="0">
                <a:solidFill>
                  <a:schemeClr val="tx1"/>
                </a:solidFill>
                <a:latin typeface="Verdana"/>
                <a:cs typeface="Verdana"/>
              </a:defRPr>
            </a:lvl1pPr>
          </a:lstStyle>
          <a:p>
            <a:pPr marL="38100">
              <a:lnSpc>
                <a:spcPct val="100000"/>
              </a:lnSpc>
              <a:spcBef>
                <a:spcPts val="105"/>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1" i="0">
                <a:solidFill>
                  <a:schemeClr val="hlink"/>
                </a:solidFill>
                <a:latin typeface="Verdana"/>
                <a:cs typeface="Verdana"/>
              </a:defRPr>
            </a:lvl1pPr>
          </a:lstStyle>
          <a:p>
            <a:pPr marL="12700">
              <a:lnSpc>
                <a:spcPct val="100000"/>
              </a:lnSpc>
              <a:spcBef>
                <a:spcPts val="105"/>
              </a:spcBef>
            </a:pPr>
            <a:r>
              <a:rPr dirty="0"/>
              <a:t>21</a:t>
            </a:r>
            <a:r>
              <a:rPr spc="-20" dirty="0"/>
              <a:t> </a:t>
            </a:r>
            <a:r>
              <a:rPr dirty="0"/>
              <a:t>January</a:t>
            </a:r>
            <a:r>
              <a:rPr spc="-35" dirty="0"/>
              <a:t> </a:t>
            </a:r>
            <a:r>
              <a:rPr spc="-20" dirty="0"/>
              <a:t>2026</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1/21/2026</a:t>
            </a:fld>
            <a:endParaRPr lang="en-US"/>
          </a:p>
        </p:txBody>
      </p:sp>
      <p:sp>
        <p:nvSpPr>
          <p:cNvPr id="4" name="Holder 4"/>
          <p:cNvSpPr>
            <a:spLocks noGrp="1"/>
          </p:cNvSpPr>
          <p:nvPr>
            <p:ph type="sldNum" sz="quarter" idx="7"/>
          </p:nvPr>
        </p:nvSpPr>
        <p:spPr/>
        <p:txBody>
          <a:bodyPr lIns="0" tIns="0" rIns="0" bIns="0"/>
          <a:lstStyle>
            <a:lvl1pPr>
              <a:defRPr sz="1200" b="1" i="0">
                <a:solidFill>
                  <a:schemeClr val="tx1"/>
                </a:solidFill>
                <a:latin typeface="Verdana"/>
                <a:cs typeface="Verdana"/>
              </a:defRPr>
            </a:lvl1pPr>
          </a:lstStyle>
          <a:p>
            <a:pPr marL="38100">
              <a:lnSpc>
                <a:spcPct val="100000"/>
              </a:lnSpc>
              <a:spcBef>
                <a:spcPts val="105"/>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4000" cy="6857998"/>
          </a:xfrm>
          <a:prstGeom prst="rect">
            <a:avLst/>
          </a:prstGeom>
        </p:spPr>
      </p:pic>
      <p:sp>
        <p:nvSpPr>
          <p:cNvPr id="2" name="Holder 2"/>
          <p:cNvSpPr>
            <a:spLocks noGrp="1"/>
          </p:cNvSpPr>
          <p:nvPr>
            <p:ph type="title"/>
          </p:nvPr>
        </p:nvSpPr>
        <p:spPr>
          <a:xfrm>
            <a:off x="4050919" y="551434"/>
            <a:ext cx="1803400" cy="574040"/>
          </a:xfrm>
          <a:prstGeom prst="rect">
            <a:avLst/>
          </a:prstGeom>
        </p:spPr>
        <p:txBody>
          <a:bodyPr wrap="square" lIns="0" tIns="0" rIns="0" bIns="0">
            <a:spAutoFit/>
          </a:bodyPr>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840739" y="1326451"/>
            <a:ext cx="7454265" cy="2587625"/>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993444" y="6356801"/>
            <a:ext cx="1456689" cy="210820"/>
          </a:xfrm>
          <a:prstGeom prst="rect">
            <a:avLst/>
          </a:prstGeom>
        </p:spPr>
        <p:txBody>
          <a:bodyPr wrap="square" lIns="0" tIns="0" rIns="0" bIns="0">
            <a:spAutoFit/>
          </a:bodyPr>
          <a:lstStyle>
            <a:lvl1pPr>
              <a:defRPr sz="1200" b="1" i="0">
                <a:solidFill>
                  <a:schemeClr val="hlink"/>
                </a:solidFill>
                <a:latin typeface="Verdana"/>
                <a:cs typeface="Verdana"/>
              </a:defRPr>
            </a:lvl1pPr>
          </a:lstStyle>
          <a:p>
            <a:pPr marL="12700">
              <a:lnSpc>
                <a:spcPct val="100000"/>
              </a:lnSpc>
              <a:spcBef>
                <a:spcPts val="105"/>
              </a:spcBef>
            </a:pPr>
            <a:r>
              <a:rPr dirty="0"/>
              <a:t>21</a:t>
            </a:r>
            <a:r>
              <a:rPr spc="-20" dirty="0"/>
              <a:t> </a:t>
            </a:r>
            <a:r>
              <a:rPr dirty="0"/>
              <a:t>January</a:t>
            </a:r>
            <a:r>
              <a:rPr spc="-35" dirty="0"/>
              <a:t> </a:t>
            </a:r>
            <a:r>
              <a:rPr spc="-20" dirty="0"/>
              <a:t>2026</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1/21/2026</a:t>
            </a:fld>
            <a:endParaRPr lang="en-US"/>
          </a:p>
        </p:txBody>
      </p:sp>
      <p:sp>
        <p:nvSpPr>
          <p:cNvPr id="6" name="Holder 6"/>
          <p:cNvSpPr>
            <a:spLocks noGrp="1"/>
          </p:cNvSpPr>
          <p:nvPr>
            <p:ph type="sldNum" sz="quarter" idx="7"/>
          </p:nvPr>
        </p:nvSpPr>
        <p:spPr>
          <a:xfrm>
            <a:off x="8598661" y="6479026"/>
            <a:ext cx="197484" cy="210820"/>
          </a:xfrm>
          <a:prstGeom prst="rect">
            <a:avLst/>
          </a:prstGeom>
        </p:spPr>
        <p:txBody>
          <a:bodyPr wrap="square" lIns="0" tIns="0" rIns="0" bIns="0">
            <a:spAutoFit/>
          </a:bodyPr>
          <a:lstStyle>
            <a:lvl1pPr>
              <a:defRPr sz="1200" b="1" i="0">
                <a:solidFill>
                  <a:schemeClr val="tx1"/>
                </a:solidFill>
                <a:latin typeface="Verdana"/>
                <a:cs typeface="Verdana"/>
              </a:defRPr>
            </a:lvl1pPr>
          </a:lstStyle>
          <a:p>
            <a:pPr marL="38100">
              <a:lnSpc>
                <a:spcPct val="100000"/>
              </a:lnSpc>
              <a:spcBef>
                <a:spcPts val="105"/>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93444" y="6357620"/>
            <a:ext cx="145669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000FF"/>
                </a:solidFill>
                <a:latin typeface="Verdana"/>
                <a:cs typeface="Verdana"/>
              </a:rPr>
              <a:t>21</a:t>
            </a:r>
            <a:r>
              <a:rPr sz="1200" b="1" spc="-20" dirty="0">
                <a:solidFill>
                  <a:srgbClr val="0000FF"/>
                </a:solidFill>
                <a:latin typeface="Verdana"/>
                <a:cs typeface="Verdana"/>
              </a:rPr>
              <a:t> </a:t>
            </a:r>
            <a:r>
              <a:rPr sz="1200" b="1" dirty="0">
                <a:solidFill>
                  <a:srgbClr val="0000FF"/>
                </a:solidFill>
                <a:latin typeface="Verdana"/>
                <a:cs typeface="Verdana"/>
              </a:rPr>
              <a:t>January</a:t>
            </a:r>
            <a:r>
              <a:rPr sz="1200" b="1" spc="-35" dirty="0">
                <a:solidFill>
                  <a:srgbClr val="0000FF"/>
                </a:solidFill>
                <a:latin typeface="Verdana"/>
                <a:cs typeface="Verdana"/>
              </a:rPr>
              <a:t> </a:t>
            </a:r>
            <a:r>
              <a:rPr sz="1200" b="1" spc="-20" dirty="0">
                <a:solidFill>
                  <a:srgbClr val="0000FF"/>
                </a:solidFill>
                <a:latin typeface="Verdana"/>
                <a:cs typeface="Verdana"/>
              </a:rPr>
              <a:t>2026</a:t>
            </a:r>
            <a:endParaRPr sz="1200">
              <a:latin typeface="Verdana"/>
              <a:cs typeface="Verdana"/>
            </a:endParaRPr>
          </a:p>
        </p:txBody>
      </p:sp>
      <p:sp>
        <p:nvSpPr>
          <p:cNvPr id="3" name="object 3"/>
          <p:cNvSpPr txBox="1"/>
          <p:nvPr/>
        </p:nvSpPr>
        <p:spPr>
          <a:xfrm>
            <a:off x="8855709" y="6479844"/>
            <a:ext cx="133985" cy="208279"/>
          </a:xfrm>
          <a:prstGeom prst="rect">
            <a:avLst/>
          </a:prstGeom>
        </p:spPr>
        <p:txBody>
          <a:bodyPr vert="horz" wrap="square" lIns="0" tIns="12700" rIns="0" bIns="0" rtlCol="0">
            <a:spAutoFit/>
          </a:bodyPr>
          <a:lstStyle/>
          <a:p>
            <a:pPr marL="12700">
              <a:lnSpc>
                <a:spcPct val="100000"/>
              </a:lnSpc>
              <a:spcBef>
                <a:spcPts val="100"/>
              </a:spcBef>
            </a:pPr>
            <a:r>
              <a:rPr sz="1200" b="1" spc="-50" dirty="0">
                <a:latin typeface="Verdana"/>
                <a:cs typeface="Verdana"/>
              </a:rPr>
              <a:t>1</a:t>
            </a:r>
            <a:endParaRPr sz="1200">
              <a:latin typeface="Verdana"/>
              <a:cs typeface="Verdana"/>
            </a:endParaRPr>
          </a:p>
        </p:txBody>
      </p:sp>
      <p:sp>
        <p:nvSpPr>
          <p:cNvPr id="4" name="object 4"/>
          <p:cNvSpPr txBox="1"/>
          <p:nvPr/>
        </p:nvSpPr>
        <p:spPr>
          <a:xfrm>
            <a:off x="3894582" y="6276847"/>
            <a:ext cx="1356995"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0000FF"/>
                </a:solidFill>
                <a:latin typeface="Arial MT"/>
                <a:cs typeface="Arial MT"/>
              </a:rPr>
              <a:t>Department</a:t>
            </a:r>
            <a:r>
              <a:rPr sz="1400" spc="-60" dirty="0">
                <a:solidFill>
                  <a:srgbClr val="0000FF"/>
                </a:solidFill>
                <a:latin typeface="Arial MT"/>
                <a:cs typeface="Arial MT"/>
              </a:rPr>
              <a:t> </a:t>
            </a:r>
            <a:r>
              <a:rPr sz="1400" dirty="0">
                <a:solidFill>
                  <a:srgbClr val="0000FF"/>
                </a:solidFill>
                <a:latin typeface="Arial MT"/>
                <a:cs typeface="Arial MT"/>
              </a:rPr>
              <a:t>of</a:t>
            </a:r>
            <a:r>
              <a:rPr sz="1400" spc="-25" dirty="0">
                <a:solidFill>
                  <a:srgbClr val="0000FF"/>
                </a:solidFill>
                <a:latin typeface="Arial MT"/>
                <a:cs typeface="Arial MT"/>
              </a:rPr>
              <a:t> IT</a:t>
            </a:r>
            <a:endParaRPr sz="1400">
              <a:latin typeface="Arial MT"/>
              <a:cs typeface="Arial MT"/>
            </a:endParaRPr>
          </a:p>
        </p:txBody>
      </p:sp>
      <p:sp>
        <p:nvSpPr>
          <p:cNvPr id="5" name="object 5"/>
          <p:cNvSpPr txBox="1">
            <a:spLocks noGrp="1"/>
          </p:cNvSpPr>
          <p:nvPr>
            <p:ph type="title"/>
          </p:nvPr>
        </p:nvSpPr>
        <p:spPr>
          <a:xfrm>
            <a:off x="1747266" y="653287"/>
            <a:ext cx="6127750" cy="1119217"/>
          </a:xfrm>
          <a:prstGeom prst="rect">
            <a:avLst/>
          </a:prstGeom>
        </p:spPr>
        <p:txBody>
          <a:bodyPr vert="horz" wrap="square" lIns="0" tIns="81280" rIns="0" bIns="0" rtlCol="0">
            <a:spAutoFit/>
          </a:bodyPr>
          <a:lstStyle/>
          <a:p>
            <a:pPr marL="2021205" marR="5080" indent="-2009139">
              <a:lnSpc>
                <a:spcPts val="4320"/>
              </a:lnSpc>
              <a:spcBef>
                <a:spcPts val="640"/>
              </a:spcBef>
            </a:pPr>
            <a:r>
              <a:rPr lang="en-US" sz="2400" spc="-30" dirty="0">
                <a:solidFill>
                  <a:srgbClr val="FF0000"/>
                </a:solidFill>
              </a:rPr>
              <a:t>A</a:t>
            </a:r>
            <a:r>
              <a:rPr lang="en-US" sz="2400" spc="-210" dirty="0">
                <a:solidFill>
                  <a:srgbClr val="FF0000"/>
                </a:solidFill>
              </a:rPr>
              <a:t>RASAN  ALUMINIUM  ORDER  MANAGEMENT      SYSTEM</a:t>
            </a:r>
            <a:endParaRPr sz="2400" dirty="0"/>
          </a:p>
        </p:txBody>
      </p:sp>
      <p:sp>
        <p:nvSpPr>
          <p:cNvPr id="6" name="object 6"/>
          <p:cNvSpPr txBox="1"/>
          <p:nvPr/>
        </p:nvSpPr>
        <p:spPr>
          <a:xfrm>
            <a:off x="1222044" y="2429382"/>
            <a:ext cx="1559560" cy="360680"/>
          </a:xfrm>
          <a:prstGeom prst="rect">
            <a:avLst/>
          </a:prstGeom>
        </p:spPr>
        <p:txBody>
          <a:bodyPr vert="horz" wrap="square" lIns="0" tIns="12065" rIns="0" bIns="0" rtlCol="0">
            <a:spAutoFit/>
          </a:bodyPr>
          <a:lstStyle/>
          <a:p>
            <a:pPr marL="12700">
              <a:lnSpc>
                <a:spcPct val="100000"/>
              </a:lnSpc>
              <a:spcBef>
                <a:spcPts val="95"/>
              </a:spcBef>
            </a:pPr>
            <a:r>
              <a:rPr sz="2200" b="1" spc="-10" dirty="0">
                <a:solidFill>
                  <a:srgbClr val="FF0000"/>
                </a:solidFill>
                <a:latin typeface="Times New Roman"/>
                <a:cs typeface="Times New Roman"/>
              </a:rPr>
              <a:t>MEMBERS:</a:t>
            </a:r>
            <a:endParaRPr sz="2200" dirty="0">
              <a:latin typeface="Times New Roman"/>
              <a:cs typeface="Times New Roman"/>
            </a:endParaRPr>
          </a:p>
        </p:txBody>
      </p:sp>
      <p:sp>
        <p:nvSpPr>
          <p:cNvPr id="7" name="object 7"/>
          <p:cNvSpPr txBox="1"/>
          <p:nvPr/>
        </p:nvSpPr>
        <p:spPr>
          <a:xfrm>
            <a:off x="3177667" y="2336215"/>
            <a:ext cx="4512945" cy="1311910"/>
          </a:xfrm>
          <a:prstGeom prst="rect">
            <a:avLst/>
          </a:prstGeom>
        </p:spPr>
        <p:txBody>
          <a:bodyPr vert="horz" wrap="square" lIns="0" tIns="105410" rIns="0" bIns="0" rtlCol="0">
            <a:spAutoFit/>
          </a:bodyPr>
          <a:lstStyle/>
          <a:p>
            <a:pPr marL="26034">
              <a:lnSpc>
                <a:spcPct val="100000"/>
              </a:lnSpc>
              <a:spcBef>
                <a:spcPts val="830"/>
              </a:spcBef>
            </a:pPr>
            <a:r>
              <a:rPr lang="en-US" sz="2200" b="1" spc="-135" dirty="0" err="1">
                <a:solidFill>
                  <a:srgbClr val="FF0000"/>
                </a:solidFill>
                <a:latin typeface="Times New Roman"/>
                <a:cs typeface="Times New Roman"/>
              </a:rPr>
              <a:t>Ellakiyan</a:t>
            </a:r>
            <a:r>
              <a:rPr lang="en-US" sz="2200" b="1" spc="-135" dirty="0">
                <a:solidFill>
                  <a:srgbClr val="FF0000"/>
                </a:solidFill>
                <a:latin typeface="Times New Roman"/>
                <a:cs typeface="Times New Roman"/>
              </a:rPr>
              <a:t> T</a:t>
            </a:r>
            <a:r>
              <a:rPr sz="2200" b="1" spc="-135" dirty="0">
                <a:solidFill>
                  <a:srgbClr val="FF0000"/>
                </a:solidFill>
                <a:latin typeface="Times New Roman"/>
                <a:cs typeface="Times New Roman"/>
              </a:rPr>
              <a:t> </a:t>
            </a:r>
            <a:r>
              <a:rPr sz="2200" b="1" spc="-10" dirty="0">
                <a:solidFill>
                  <a:srgbClr val="FF0000"/>
                </a:solidFill>
                <a:latin typeface="Times New Roman"/>
                <a:cs typeface="Times New Roman"/>
              </a:rPr>
              <a:t>(9517202406034)</a:t>
            </a:r>
            <a:endParaRPr sz="2200" dirty="0">
              <a:latin typeface="Times New Roman"/>
              <a:cs typeface="Times New Roman"/>
            </a:endParaRPr>
          </a:p>
          <a:p>
            <a:pPr marL="12700">
              <a:lnSpc>
                <a:spcPct val="100000"/>
              </a:lnSpc>
              <a:spcBef>
                <a:spcPts val="730"/>
              </a:spcBef>
            </a:pPr>
            <a:r>
              <a:rPr lang="en-US" sz="2200" b="1" spc="-30" dirty="0">
                <a:solidFill>
                  <a:srgbClr val="FF0000"/>
                </a:solidFill>
                <a:latin typeface="Times New Roman"/>
                <a:cs typeface="Times New Roman"/>
              </a:rPr>
              <a:t>Mohan Raj N</a:t>
            </a:r>
            <a:r>
              <a:rPr sz="2200" b="1" spc="-30" dirty="0">
                <a:solidFill>
                  <a:srgbClr val="FF0000"/>
                </a:solidFill>
                <a:latin typeface="Times New Roman"/>
                <a:cs typeface="Times New Roman"/>
              </a:rPr>
              <a:t> </a:t>
            </a:r>
            <a:r>
              <a:rPr sz="2200" b="1" spc="-10" dirty="0">
                <a:solidFill>
                  <a:srgbClr val="FF0000"/>
                </a:solidFill>
                <a:latin typeface="Times New Roman"/>
                <a:cs typeface="Times New Roman"/>
              </a:rPr>
              <a:t>(95172024060</a:t>
            </a:r>
            <a:r>
              <a:rPr lang="en-US" sz="2200" b="1" spc="-10" dirty="0">
                <a:solidFill>
                  <a:srgbClr val="FF0000"/>
                </a:solidFill>
                <a:latin typeface="Times New Roman"/>
                <a:cs typeface="Times New Roman"/>
              </a:rPr>
              <a:t>55</a:t>
            </a:r>
            <a:r>
              <a:rPr sz="2200" b="1" spc="-10" dirty="0">
                <a:solidFill>
                  <a:srgbClr val="FF0000"/>
                </a:solidFill>
                <a:latin typeface="Times New Roman"/>
                <a:cs typeface="Times New Roman"/>
              </a:rPr>
              <a:t>)</a:t>
            </a:r>
            <a:endParaRPr sz="2200" dirty="0">
              <a:latin typeface="Times New Roman"/>
              <a:cs typeface="Times New Roman"/>
            </a:endParaRPr>
          </a:p>
          <a:p>
            <a:pPr marL="34925">
              <a:lnSpc>
                <a:spcPct val="100000"/>
              </a:lnSpc>
              <a:spcBef>
                <a:spcPts val="745"/>
              </a:spcBef>
            </a:pPr>
            <a:r>
              <a:rPr lang="en-US" sz="2200" b="1" spc="-130" dirty="0">
                <a:solidFill>
                  <a:srgbClr val="FF0000"/>
                </a:solidFill>
                <a:latin typeface="Times New Roman"/>
                <a:cs typeface="Times New Roman"/>
              </a:rPr>
              <a:t>Kesavan </a:t>
            </a:r>
            <a:r>
              <a:rPr sz="2200" b="1" spc="-130" dirty="0">
                <a:solidFill>
                  <a:srgbClr val="FF0000"/>
                </a:solidFill>
                <a:latin typeface="Times New Roman"/>
                <a:cs typeface="Times New Roman"/>
              </a:rPr>
              <a:t> </a:t>
            </a:r>
            <a:r>
              <a:rPr lang="en-US" sz="2200" b="1" spc="-20" dirty="0">
                <a:solidFill>
                  <a:srgbClr val="FF0000"/>
                </a:solidFill>
                <a:latin typeface="Times New Roman"/>
                <a:cs typeface="Times New Roman"/>
              </a:rPr>
              <a:t>G</a:t>
            </a:r>
            <a:r>
              <a:rPr sz="2200" b="1" spc="-125" dirty="0">
                <a:solidFill>
                  <a:srgbClr val="FF0000"/>
                </a:solidFill>
                <a:latin typeface="Times New Roman"/>
                <a:cs typeface="Times New Roman"/>
              </a:rPr>
              <a:t> </a:t>
            </a:r>
            <a:r>
              <a:rPr sz="2200" b="1" spc="-10" dirty="0">
                <a:solidFill>
                  <a:srgbClr val="FF0000"/>
                </a:solidFill>
                <a:latin typeface="Times New Roman"/>
                <a:cs typeface="Times New Roman"/>
              </a:rPr>
              <a:t>(9517202406105)</a:t>
            </a:r>
            <a:endParaRPr sz="2200" dirty="0">
              <a:latin typeface="Times New Roman"/>
              <a:cs typeface="Times New Roman"/>
            </a:endParaRPr>
          </a:p>
        </p:txBody>
      </p:sp>
      <p:sp>
        <p:nvSpPr>
          <p:cNvPr id="8" name="object 8"/>
          <p:cNvSpPr txBox="1"/>
          <p:nvPr/>
        </p:nvSpPr>
        <p:spPr>
          <a:xfrm>
            <a:off x="2453385" y="4074840"/>
            <a:ext cx="5149215" cy="941069"/>
          </a:xfrm>
          <a:prstGeom prst="rect">
            <a:avLst/>
          </a:prstGeom>
        </p:spPr>
        <p:txBody>
          <a:bodyPr vert="horz" wrap="square" lIns="0" tIns="104775" rIns="0" bIns="0" rtlCol="0">
            <a:spAutoFit/>
          </a:bodyPr>
          <a:lstStyle/>
          <a:p>
            <a:pPr algn="ctr">
              <a:lnSpc>
                <a:spcPct val="100000"/>
              </a:lnSpc>
              <a:spcBef>
                <a:spcPts val="825"/>
              </a:spcBef>
            </a:pPr>
            <a:r>
              <a:rPr sz="2400" b="1" dirty="0">
                <a:latin typeface="Times New Roman"/>
                <a:cs typeface="Times New Roman"/>
              </a:rPr>
              <a:t>Department</a:t>
            </a:r>
            <a:r>
              <a:rPr sz="2400" b="1" spc="-45" dirty="0">
                <a:latin typeface="Times New Roman"/>
                <a:cs typeface="Times New Roman"/>
              </a:rPr>
              <a:t> </a:t>
            </a:r>
            <a:r>
              <a:rPr sz="2400" b="1" dirty="0">
                <a:latin typeface="Times New Roman"/>
                <a:cs typeface="Times New Roman"/>
              </a:rPr>
              <a:t>of</a:t>
            </a:r>
            <a:r>
              <a:rPr sz="2400" b="1" spc="-30" dirty="0">
                <a:latin typeface="Times New Roman"/>
                <a:cs typeface="Times New Roman"/>
              </a:rPr>
              <a:t> </a:t>
            </a:r>
            <a:r>
              <a:rPr sz="2400" b="1" dirty="0">
                <a:latin typeface="Times New Roman"/>
                <a:cs typeface="Times New Roman"/>
              </a:rPr>
              <a:t>Information</a:t>
            </a:r>
            <a:r>
              <a:rPr sz="2400" b="1" spc="-90" dirty="0">
                <a:latin typeface="Times New Roman"/>
                <a:cs typeface="Times New Roman"/>
              </a:rPr>
              <a:t> </a:t>
            </a:r>
            <a:r>
              <a:rPr sz="2400" b="1" spc="-10" dirty="0">
                <a:latin typeface="Times New Roman"/>
                <a:cs typeface="Times New Roman"/>
              </a:rPr>
              <a:t>Technology</a:t>
            </a:r>
            <a:endParaRPr sz="2400">
              <a:latin typeface="Times New Roman"/>
              <a:cs typeface="Times New Roman"/>
            </a:endParaRPr>
          </a:p>
          <a:p>
            <a:pPr marL="8890" algn="ctr">
              <a:lnSpc>
                <a:spcPct val="100000"/>
              </a:lnSpc>
              <a:spcBef>
                <a:spcPts val="720"/>
              </a:spcBef>
            </a:pPr>
            <a:r>
              <a:rPr sz="2400" b="1" dirty="0">
                <a:latin typeface="Times New Roman"/>
                <a:cs typeface="Times New Roman"/>
              </a:rPr>
              <a:t>Mepco</a:t>
            </a:r>
            <a:r>
              <a:rPr sz="2400" b="1" spc="-20" dirty="0">
                <a:latin typeface="Times New Roman"/>
                <a:cs typeface="Times New Roman"/>
              </a:rPr>
              <a:t> </a:t>
            </a:r>
            <a:r>
              <a:rPr sz="2400" b="1" dirty="0">
                <a:latin typeface="Times New Roman"/>
                <a:cs typeface="Times New Roman"/>
              </a:rPr>
              <a:t>Schlenk</a:t>
            </a:r>
            <a:r>
              <a:rPr sz="2400" b="1" spc="-15" dirty="0">
                <a:latin typeface="Times New Roman"/>
                <a:cs typeface="Times New Roman"/>
              </a:rPr>
              <a:t> </a:t>
            </a:r>
            <a:r>
              <a:rPr sz="2400" b="1" dirty="0">
                <a:latin typeface="Times New Roman"/>
                <a:cs typeface="Times New Roman"/>
              </a:rPr>
              <a:t>Engineering</a:t>
            </a:r>
            <a:r>
              <a:rPr sz="2400" b="1" spc="-20" dirty="0">
                <a:latin typeface="Times New Roman"/>
                <a:cs typeface="Times New Roman"/>
              </a:rPr>
              <a:t> </a:t>
            </a:r>
            <a:r>
              <a:rPr sz="2400" b="1" spc="-10" dirty="0">
                <a:latin typeface="Times New Roman"/>
                <a:cs typeface="Times New Roman"/>
              </a:rPr>
              <a:t>College</a:t>
            </a:r>
            <a:endParaRPr sz="240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81705" y="344170"/>
            <a:ext cx="3789045" cy="574040"/>
          </a:xfrm>
          <a:prstGeom prst="rect">
            <a:avLst/>
          </a:prstGeom>
        </p:spPr>
        <p:txBody>
          <a:bodyPr vert="horz" wrap="square" lIns="0" tIns="12700" rIns="0" bIns="0" rtlCol="0">
            <a:spAutoFit/>
          </a:bodyPr>
          <a:lstStyle/>
          <a:p>
            <a:pPr marL="12700">
              <a:lnSpc>
                <a:spcPct val="100000"/>
              </a:lnSpc>
              <a:spcBef>
                <a:spcPts val="100"/>
              </a:spcBef>
            </a:pPr>
            <a:r>
              <a:rPr dirty="0"/>
              <a:t>Problem</a:t>
            </a:r>
            <a:r>
              <a:rPr spc="-200" dirty="0"/>
              <a:t> </a:t>
            </a:r>
            <a:r>
              <a:rPr spc="-10" dirty="0"/>
              <a:t>Statement</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dirty="0"/>
              <a:t>21</a:t>
            </a:r>
            <a:r>
              <a:rPr spc="-20" dirty="0"/>
              <a:t> </a:t>
            </a:r>
            <a:r>
              <a:rPr dirty="0"/>
              <a:t>January</a:t>
            </a:r>
            <a:r>
              <a:rPr spc="-35" dirty="0"/>
              <a:t> </a:t>
            </a:r>
            <a:r>
              <a:rPr spc="-20" dirty="0"/>
              <a:t>2026</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spc="-50" dirty="0"/>
              <a:t>2</a:t>
            </a:fld>
            <a:endParaRPr spc="-50" dirty="0"/>
          </a:p>
        </p:txBody>
      </p:sp>
      <p:sp>
        <p:nvSpPr>
          <p:cNvPr id="3" name="object 3"/>
          <p:cNvSpPr txBox="1"/>
          <p:nvPr/>
        </p:nvSpPr>
        <p:spPr>
          <a:xfrm>
            <a:off x="764540" y="1485138"/>
            <a:ext cx="8227059" cy="2967479"/>
          </a:xfrm>
          <a:prstGeom prst="rect">
            <a:avLst/>
          </a:prstGeom>
        </p:spPr>
        <p:txBody>
          <a:bodyPr vert="horz" wrap="square" lIns="0" tIns="12700" rIns="0" bIns="0" rtlCol="0">
            <a:spAutoFit/>
          </a:bodyPr>
          <a:lstStyle/>
          <a:p>
            <a:pPr marL="12700" marR="5715" algn="just">
              <a:lnSpc>
                <a:spcPct val="100000"/>
              </a:lnSpc>
              <a:spcBef>
                <a:spcPts val="100"/>
              </a:spcBef>
            </a:pPr>
            <a:r>
              <a:rPr lang="en-US" sz="2400" dirty="0"/>
              <a:t>Arasan </a:t>
            </a:r>
            <a:r>
              <a:rPr lang="en-US" sz="2400" dirty="0" err="1"/>
              <a:t>Aluminium</a:t>
            </a:r>
            <a:r>
              <a:rPr lang="en-US" sz="2400" dirty="0"/>
              <a:t> Industry uses only phone calls and emails for orders. This causes many problems. Orders have many errors. Processing takes 2-3 hours per order. Stock tracking is poor with errors. Customer data is scattered in different places. Sales reports take too long to make. Production planning is difficult. These problems cause losses every year. Customer satisfaction is low. The business cannot grow well in the competitive market.</a:t>
            </a:r>
            <a:endParaRPr sz="24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7244" y="1415922"/>
            <a:ext cx="7995920" cy="3706143"/>
          </a:xfrm>
          <a:prstGeom prst="rect">
            <a:avLst/>
          </a:prstGeom>
        </p:spPr>
        <p:txBody>
          <a:bodyPr vert="horz" wrap="square" lIns="0" tIns="12700" rIns="0" bIns="0" rtlCol="0">
            <a:spAutoFit/>
          </a:bodyPr>
          <a:lstStyle/>
          <a:p>
            <a:r>
              <a:rPr lang="en-US" sz="2400" b="1" dirty="0"/>
              <a:t>1. Reduce Order Processing Time</a:t>
            </a:r>
            <a:br>
              <a:rPr lang="en-US" sz="2400" dirty="0"/>
            </a:br>
            <a:r>
              <a:rPr lang="en-US" sz="2400" dirty="0"/>
              <a:t>     Cut order handling from 3 hours to 30 minutes.</a:t>
            </a:r>
          </a:p>
          <a:p>
            <a:r>
              <a:rPr lang="en-US" sz="2400" b="1" dirty="0"/>
              <a:t>2. Eliminate Order Errors</a:t>
            </a:r>
            <a:br>
              <a:rPr lang="en-US" sz="2400" dirty="0"/>
            </a:br>
            <a:r>
              <a:rPr lang="en-US" sz="2400" dirty="0"/>
              <a:t>     Remove manual entry mistakes with digital system.</a:t>
            </a:r>
          </a:p>
          <a:p>
            <a:r>
              <a:rPr lang="en-US" sz="2400" b="1" dirty="0"/>
              <a:t>3. Track Stock Accurately</a:t>
            </a:r>
            <a:br>
              <a:rPr lang="en-US" sz="2400" dirty="0"/>
            </a:br>
            <a:r>
              <a:rPr lang="en-US" sz="2400" dirty="0"/>
              <a:t>     Know exactly what products are available in real-time.</a:t>
            </a:r>
          </a:p>
          <a:p>
            <a:r>
              <a:rPr lang="en-US" sz="2400" b="1" dirty="0"/>
              <a:t>4. Centralize Customer Data</a:t>
            </a:r>
            <a:br>
              <a:rPr lang="en-US" sz="2400" dirty="0"/>
            </a:br>
            <a:r>
              <a:rPr lang="en-US" sz="2400" dirty="0"/>
              <a:t>     Keep all client information in one secure place.</a:t>
            </a:r>
          </a:p>
          <a:p>
            <a:r>
              <a:rPr lang="en-US" sz="2400" b="1" dirty="0"/>
              <a:t>5. Generate Reports Automatically</a:t>
            </a:r>
            <a:br>
              <a:rPr lang="en-US" sz="2400" dirty="0"/>
            </a:br>
            <a:r>
              <a:rPr lang="en-US" sz="2400" dirty="0"/>
              <a:t>     Create sales and stock reports with one click.</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dirty="0"/>
              <a:t>21</a:t>
            </a:r>
            <a:r>
              <a:rPr spc="-20" dirty="0"/>
              <a:t> </a:t>
            </a:r>
            <a:r>
              <a:rPr dirty="0"/>
              <a:t>January</a:t>
            </a:r>
            <a:r>
              <a:rPr spc="-35" dirty="0"/>
              <a:t> </a:t>
            </a:r>
            <a:r>
              <a:rPr spc="-20" dirty="0"/>
              <a:t>2026</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spc="-50" dirty="0"/>
              <a:t>3</a:t>
            </a:fld>
            <a:endParaRPr spc="-50" dirty="0"/>
          </a:p>
        </p:txBody>
      </p:sp>
      <p:sp>
        <p:nvSpPr>
          <p:cNvPr id="3" name="object 3"/>
          <p:cNvSpPr txBox="1">
            <a:spLocks noGrp="1"/>
          </p:cNvSpPr>
          <p:nvPr>
            <p:ph type="title"/>
          </p:nvPr>
        </p:nvSpPr>
        <p:spPr>
          <a:xfrm>
            <a:off x="3614673" y="475945"/>
            <a:ext cx="1905000" cy="574675"/>
          </a:xfrm>
          <a:prstGeom prst="rect">
            <a:avLst/>
          </a:prstGeom>
        </p:spPr>
        <p:txBody>
          <a:bodyPr vert="horz" wrap="square" lIns="0" tIns="12700" rIns="0" bIns="0" rtlCol="0">
            <a:spAutoFit/>
          </a:bodyPr>
          <a:lstStyle/>
          <a:p>
            <a:pPr marL="12700">
              <a:lnSpc>
                <a:spcPct val="100000"/>
              </a:lnSpc>
              <a:spcBef>
                <a:spcPts val="100"/>
              </a:spcBef>
            </a:pPr>
            <a:r>
              <a:rPr spc="-10" dirty="0"/>
              <a:t>Objective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Outcome</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dirty="0"/>
              <a:t>21</a:t>
            </a:r>
            <a:r>
              <a:rPr spc="-20" dirty="0"/>
              <a:t> </a:t>
            </a:r>
            <a:r>
              <a:rPr dirty="0"/>
              <a:t>January</a:t>
            </a:r>
            <a:r>
              <a:rPr spc="-35" dirty="0"/>
              <a:t> </a:t>
            </a:r>
            <a:r>
              <a:rPr spc="-20" dirty="0"/>
              <a:t>2026</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spc="-50" dirty="0"/>
              <a:t>4</a:t>
            </a:fld>
            <a:endParaRPr spc="-50" dirty="0"/>
          </a:p>
        </p:txBody>
      </p:sp>
      <p:sp>
        <p:nvSpPr>
          <p:cNvPr id="3" name="object 3"/>
          <p:cNvSpPr txBox="1"/>
          <p:nvPr/>
        </p:nvSpPr>
        <p:spPr>
          <a:xfrm>
            <a:off x="840739" y="1360373"/>
            <a:ext cx="8187055" cy="4203715"/>
          </a:xfrm>
          <a:prstGeom prst="rect">
            <a:avLst/>
          </a:prstGeom>
        </p:spPr>
        <p:txBody>
          <a:bodyPr vert="horz" wrap="square" lIns="0" tIns="12700" rIns="0" bIns="0" rtlCol="0">
            <a:spAutoFit/>
          </a:bodyPr>
          <a:lstStyle/>
          <a:p>
            <a:pPr marL="342900" indent="-342900">
              <a:buFont typeface="Arial" panose="020B0604020202020204" pitchFamily="34" charset="0"/>
              <a:buChar char="•"/>
            </a:pPr>
            <a:r>
              <a:rPr lang="en-US" sz="2400" b="1" dirty="0"/>
              <a:t>Java-based system developed for order management</a:t>
            </a:r>
            <a:br>
              <a:rPr lang="en-US" sz="2400" dirty="0"/>
            </a:br>
            <a:r>
              <a:rPr lang="en-US" sz="2400" dirty="0"/>
              <a:t>   Easy-to-use interface for all operations.</a:t>
            </a:r>
          </a:p>
          <a:p>
            <a:pPr marL="342900" indent="-342900">
              <a:buFont typeface="Arial" panose="020B0604020202020204" pitchFamily="34" charset="0"/>
              <a:buChar char="•"/>
            </a:pPr>
            <a:r>
              <a:rPr lang="en-US" sz="2400" b="1" dirty="0"/>
              <a:t>Secure MySQL database implemented</a:t>
            </a:r>
            <a:br>
              <a:rPr lang="en-US" sz="2400" dirty="0"/>
            </a:br>
            <a:r>
              <a:rPr lang="en-US" sz="2400" dirty="0"/>
              <a:t>   All order and inventory data stored safely.</a:t>
            </a:r>
          </a:p>
          <a:p>
            <a:pPr marL="342900" indent="-342900">
              <a:buFont typeface="Arial" panose="020B0604020202020204" pitchFamily="34" charset="0"/>
              <a:buChar char="•"/>
            </a:pPr>
            <a:r>
              <a:rPr lang="en-US" sz="2400" b="1" dirty="0"/>
              <a:t>Automated order processing and stock updates</a:t>
            </a:r>
            <a:br>
              <a:rPr lang="en-US" sz="2400" dirty="0"/>
            </a:br>
            <a:r>
              <a:rPr lang="en-US" sz="2400" dirty="0"/>
              <a:t>   Improved accuracy and reduced manual work.</a:t>
            </a:r>
          </a:p>
          <a:p>
            <a:pPr marL="342900" indent="-342900">
              <a:buFont typeface="Arial" panose="020B0604020202020204" pitchFamily="34" charset="0"/>
              <a:buChar char="•"/>
            </a:pPr>
            <a:r>
              <a:rPr lang="en-US" sz="2400" b="1" dirty="0"/>
              <a:t>Real-time stock tracking with alerts</a:t>
            </a:r>
            <a:br>
              <a:rPr lang="en-US" sz="2400" dirty="0"/>
            </a:br>
            <a:r>
              <a:rPr lang="en-US" sz="2400" dirty="0"/>
              <a:t>   Prevents shortages and overstocking.</a:t>
            </a:r>
          </a:p>
          <a:p>
            <a:pPr marL="342900" indent="-342900">
              <a:buFont typeface="Arial" panose="020B0604020202020204" pitchFamily="34" charset="0"/>
              <a:buChar char="•"/>
            </a:pPr>
            <a:r>
              <a:rPr lang="en-US" sz="2400" b="1" dirty="0"/>
              <a:t>Efficient customer and order management</a:t>
            </a:r>
            <a:br>
              <a:rPr lang="en-US" sz="2400" dirty="0"/>
            </a:br>
            <a:r>
              <a:rPr lang="en-US" sz="2400" dirty="0"/>
              <a:t>   Easy to add, update, and track information.</a:t>
            </a:r>
          </a:p>
          <a:p>
            <a:pPr marL="12700" marR="1118870">
              <a:lnSpc>
                <a:spcPct val="100000"/>
              </a:lnSpc>
              <a:spcBef>
                <a:spcPts val="965"/>
              </a:spcBef>
              <a:tabLst>
                <a:tab pos="195580" algn="l"/>
              </a:tabLst>
            </a:pPr>
            <a:endParaRPr sz="2400" dirty="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53695">
              <a:lnSpc>
                <a:spcPct val="100000"/>
              </a:lnSpc>
              <a:spcBef>
                <a:spcPts val="100"/>
              </a:spcBef>
            </a:pPr>
            <a:r>
              <a:rPr spc="-10" dirty="0"/>
              <a:t>Input</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dirty="0"/>
              <a:t>21</a:t>
            </a:r>
            <a:r>
              <a:rPr spc="-20" dirty="0"/>
              <a:t> </a:t>
            </a:r>
            <a:r>
              <a:rPr dirty="0"/>
              <a:t>January</a:t>
            </a:r>
            <a:r>
              <a:rPr spc="-35" dirty="0"/>
              <a:t> </a:t>
            </a:r>
            <a:r>
              <a:rPr spc="-20" dirty="0"/>
              <a:t>2026</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spc="-50" dirty="0"/>
              <a:t>5</a:t>
            </a:fld>
            <a:endParaRPr spc="-50" dirty="0"/>
          </a:p>
        </p:txBody>
      </p:sp>
      <p:sp>
        <p:nvSpPr>
          <p:cNvPr id="3" name="object 3"/>
          <p:cNvSpPr txBox="1"/>
          <p:nvPr/>
        </p:nvSpPr>
        <p:spPr>
          <a:xfrm>
            <a:off x="840739" y="1433525"/>
            <a:ext cx="7895590" cy="3336811"/>
          </a:xfrm>
          <a:prstGeom prst="rect">
            <a:avLst/>
          </a:prstGeom>
        </p:spPr>
        <p:txBody>
          <a:bodyPr vert="horz" wrap="square" lIns="0" tIns="12700" rIns="0" bIns="0" rtlCol="0">
            <a:spAutoFit/>
          </a:bodyPr>
          <a:lstStyle/>
          <a:p>
            <a:pPr marL="342900" indent="-342900">
              <a:buFont typeface="Arial" panose="020B0604020202020204" pitchFamily="34" charset="0"/>
              <a:buChar char="•"/>
            </a:pPr>
            <a:r>
              <a:rPr lang="en-US" sz="2400" dirty="0">
                <a:effectLst>
                  <a:outerShdw blurRad="38100" dist="38100" dir="2700000" algn="tl">
                    <a:srgbClr val="000000">
                      <a:alpha val="43137"/>
                    </a:srgbClr>
                  </a:outerShdw>
                </a:effectLst>
              </a:rPr>
              <a:t>Customer details (company name, contact person, address, phone, email, etc.)</a:t>
            </a:r>
          </a:p>
          <a:p>
            <a:pPr marL="342900" indent="-342900">
              <a:buFont typeface="Arial" panose="020B0604020202020204" pitchFamily="34" charset="0"/>
              <a:buChar char="•"/>
            </a:pPr>
            <a:r>
              <a:rPr lang="en-US" sz="2400" dirty="0">
                <a:effectLst>
                  <a:outerShdw blurRad="38100" dist="38100" dir="2700000" algn="tl">
                    <a:srgbClr val="000000">
                      <a:alpha val="43137"/>
                    </a:srgbClr>
                  </a:outerShdw>
                </a:effectLst>
              </a:rPr>
              <a:t>Product details (product code, name, description, price, stock, etc.)</a:t>
            </a:r>
          </a:p>
          <a:p>
            <a:pPr marL="342900" indent="-342900">
              <a:buFont typeface="Arial" panose="020B0604020202020204" pitchFamily="34" charset="0"/>
              <a:buChar char="•"/>
            </a:pPr>
            <a:r>
              <a:rPr lang="en-US" sz="2400" dirty="0">
                <a:effectLst>
                  <a:outerShdw blurRad="38100" dist="38100" dir="2700000" algn="tl">
                    <a:srgbClr val="000000">
                      <a:alpha val="43137"/>
                    </a:srgbClr>
                  </a:outerShdw>
                </a:effectLst>
              </a:rPr>
              <a:t>Order details (order date, customer, products, quantities, etc.)</a:t>
            </a:r>
          </a:p>
          <a:p>
            <a:pPr marL="342900" indent="-342900">
              <a:buFont typeface="Arial" panose="020B0604020202020204" pitchFamily="34" charset="0"/>
              <a:buChar char="•"/>
            </a:pPr>
            <a:r>
              <a:rPr lang="en-US" sz="2400" dirty="0">
                <a:effectLst>
                  <a:outerShdw blurRad="38100" dist="38100" dir="2700000" algn="tl">
                    <a:srgbClr val="000000">
                      <a:alpha val="43137"/>
                    </a:srgbClr>
                  </a:outerShdw>
                </a:effectLst>
              </a:rPr>
              <a:t>Stock updates (when new stock arrives or stock is adjusted)</a:t>
            </a:r>
          </a:p>
          <a:p>
            <a:pPr marL="342900" indent="-342900">
              <a:buFont typeface="Arial" panose="020B0604020202020204" pitchFamily="34" charset="0"/>
              <a:buChar char="•"/>
            </a:pPr>
            <a:r>
              <a:rPr lang="en-US" sz="2400" dirty="0">
                <a:effectLst>
                  <a:outerShdw blurRad="38100" dist="38100" dir="2700000" algn="tl">
                    <a:srgbClr val="000000">
                      <a:alpha val="43137"/>
                    </a:srgbClr>
                  </a:outerShdw>
                </a:effectLst>
              </a:rPr>
              <a:t>User login (if we have authentication)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27703" y="627634"/>
            <a:ext cx="1448435" cy="574040"/>
          </a:xfrm>
          <a:prstGeom prst="rect">
            <a:avLst/>
          </a:prstGeom>
        </p:spPr>
        <p:txBody>
          <a:bodyPr vert="horz" wrap="square" lIns="0" tIns="12700" rIns="0" bIns="0" rtlCol="0">
            <a:spAutoFit/>
          </a:bodyPr>
          <a:lstStyle/>
          <a:p>
            <a:pPr marL="12700">
              <a:lnSpc>
                <a:spcPct val="100000"/>
              </a:lnSpc>
              <a:spcBef>
                <a:spcPts val="100"/>
              </a:spcBef>
            </a:pPr>
            <a:r>
              <a:rPr spc="-10" dirty="0"/>
              <a:t>Output</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dirty="0"/>
              <a:t>21</a:t>
            </a:r>
            <a:r>
              <a:rPr spc="-20" dirty="0"/>
              <a:t> </a:t>
            </a:r>
            <a:r>
              <a:rPr dirty="0"/>
              <a:t>January</a:t>
            </a:r>
            <a:r>
              <a:rPr spc="-35" dirty="0"/>
              <a:t> </a:t>
            </a:r>
            <a:r>
              <a:rPr spc="-20" dirty="0"/>
              <a:t>2026</a:t>
            </a:r>
          </a:p>
        </p:txBody>
      </p:sp>
      <p:sp>
        <p:nvSpPr>
          <p:cNvPr id="5" name="object 5"/>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spc="-50" dirty="0"/>
              <a:t>6</a:t>
            </a:fld>
            <a:endParaRPr spc="-50" dirty="0"/>
          </a:p>
        </p:txBody>
      </p:sp>
      <p:sp>
        <p:nvSpPr>
          <p:cNvPr id="3" name="object 3"/>
          <p:cNvSpPr txBox="1">
            <a:spLocks noGrp="1"/>
          </p:cNvSpPr>
          <p:nvPr>
            <p:ph type="body" idx="1"/>
          </p:nvPr>
        </p:nvSpPr>
        <p:spPr>
          <a:xfrm>
            <a:off x="840739" y="1326451"/>
            <a:ext cx="7454265" cy="3780522"/>
          </a:xfrm>
          <a:prstGeom prst="rect">
            <a:avLst/>
          </a:prstGeom>
        </p:spPr>
        <p:txBody>
          <a:bodyPr vert="horz" wrap="square" lIns="0" tIns="86360" rIns="0" bIns="0" rtlCol="0">
            <a:spAutoFit/>
          </a:bodyPr>
          <a:lstStyle/>
          <a:p>
            <a:pPr marL="342900" indent="-342900">
              <a:buFont typeface="Arial" panose="020B0604020202020204" pitchFamily="34" charset="0"/>
              <a:buChar char="•"/>
            </a:pPr>
            <a:r>
              <a:rPr lang="en-US" dirty="0">
                <a:effectLst>
                  <a:outerShdw blurRad="38100" dist="38100" dir="2700000" algn="tl">
                    <a:srgbClr val="000000">
                      <a:alpha val="43137"/>
                    </a:srgbClr>
                  </a:outerShdw>
                </a:effectLst>
              </a:rPr>
              <a:t>Secure storage of customer, product, and order data in MySQL database</a:t>
            </a:r>
          </a:p>
          <a:p>
            <a:pPr marL="342900" indent="-342900">
              <a:buFont typeface="Arial" panose="020B0604020202020204" pitchFamily="34" charset="0"/>
              <a:buChar char="•"/>
            </a:pPr>
            <a:r>
              <a:rPr lang="en-US" dirty="0">
                <a:effectLst>
                  <a:outerShdw blurRad="38100" dist="38100" dir="2700000" algn="tl">
                    <a:srgbClr val="000000">
                      <a:alpha val="43137"/>
                    </a:srgbClr>
                  </a:outerShdw>
                </a:effectLst>
              </a:rPr>
              <a:t>Display of order details, inventory status, and customer information through Java interface</a:t>
            </a:r>
          </a:p>
          <a:p>
            <a:pPr marL="342900" indent="-342900">
              <a:buFont typeface="Arial" panose="020B0604020202020204" pitchFamily="34" charset="0"/>
              <a:buChar char="•"/>
            </a:pPr>
            <a:r>
              <a:rPr lang="en-US" dirty="0">
                <a:effectLst>
                  <a:outerShdw blurRad="38100" dist="38100" dir="2700000" algn="tl">
                    <a:srgbClr val="000000">
                      <a:alpha val="43137"/>
                    </a:srgbClr>
                  </a:outerShdw>
                </a:effectLst>
              </a:rPr>
              <a:t>Automatically generated invoices and order summaries</a:t>
            </a:r>
          </a:p>
          <a:p>
            <a:pPr marL="342900" indent="-342900">
              <a:buFont typeface="Arial" panose="020B0604020202020204" pitchFamily="34" charset="0"/>
              <a:buChar char="•"/>
            </a:pPr>
            <a:r>
              <a:rPr lang="en-US" dirty="0">
                <a:effectLst>
                  <a:outerShdw blurRad="38100" dist="38100" dir="2700000" algn="tl">
                    <a:srgbClr val="000000">
                      <a:alpha val="43137"/>
                    </a:srgbClr>
                  </a:outerShdw>
                </a:effectLst>
              </a:rPr>
              <a:t>Updated and accurate inventory records after each transaction</a:t>
            </a:r>
          </a:p>
          <a:p>
            <a:pPr marL="342900" indent="-342900">
              <a:buFont typeface="Arial" panose="020B0604020202020204" pitchFamily="34" charset="0"/>
              <a:buChar char="•"/>
            </a:pPr>
            <a:r>
              <a:rPr lang="en-US" dirty="0">
                <a:effectLst>
                  <a:outerShdw blurRad="38100" dist="38100" dir="2700000" algn="tl">
                    <a:srgbClr val="000000">
                      <a:alpha val="43137"/>
                    </a:srgbClr>
                  </a:outerShdw>
                </a:effectLst>
              </a:rPr>
              <a:t>Efficient retrieval of order history and product availability when required</a:t>
            </a:r>
            <a:br>
              <a:rPr lang="en-US" dirty="0">
                <a:effectLst>
                  <a:outerShdw blurRad="38100" dist="38100" dir="2700000" algn="tl">
                    <a:srgbClr val="000000">
                      <a:alpha val="43137"/>
                    </a:srgbClr>
                  </a:outerShdw>
                </a:effectLst>
              </a:rPr>
            </a:br>
            <a:endParaRPr spc="-10" dirty="0">
              <a:effectLst>
                <a:outerShdw blurRad="38100" dist="38100" dir="2700000" algn="tl">
                  <a:srgbClr val="000000">
                    <a:alpha val="43137"/>
                  </a:srgbClr>
                </a:outerShdw>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TotalTime>
  <Words>416</Words>
  <Application>Microsoft Office PowerPoint</Application>
  <PresentationFormat>On-screen Show (4:3)</PresentationFormat>
  <Paragraphs>46</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Arial MT</vt:lpstr>
      <vt:lpstr>Times New Roman</vt:lpstr>
      <vt:lpstr>Verdana</vt:lpstr>
      <vt:lpstr>Office Theme</vt:lpstr>
      <vt:lpstr>ARASAN  ALUMINIUM  ORDER  MANAGEMENT      SYSTEM</vt:lpstr>
      <vt:lpstr>Problem Statement</vt:lpstr>
      <vt:lpstr>Objective</vt:lpstr>
      <vt:lpstr>Outcome</vt:lpstr>
      <vt:lpstr>Input</vt:lpstr>
      <vt:lpstr>Output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rightgen2</dc:creator>
  <cp:lastModifiedBy>mohan raj</cp:lastModifiedBy>
  <cp:revision>3</cp:revision>
  <dcterms:created xsi:type="dcterms:W3CDTF">2026-01-21T15:58:51Z</dcterms:created>
  <dcterms:modified xsi:type="dcterms:W3CDTF">2026-01-21T16:28:47Z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2026-01-21T00:00:00Z</vt:filetime>
  </property>
  <property fmtid="{D5CDD505-2E9C-101B-9397-08002B2CF9AE}" pid="3" name="Creator">
    <vt:lpwstr>Microsoft® PowerPoint® 2021</vt:lpwstr>
  </property>
  <property fmtid="{D5CDD505-2E9C-101B-9397-08002B2CF9AE}" pid="4" name="LastSaved">
    <vt:filetime>2026-01-21T00:00:00Z</vt:filetime>
  </property>
  <property fmtid="{D5CDD505-2E9C-101B-9397-08002B2CF9AE}" pid="5" name="Producer">
    <vt:lpwstr>Microsoft® PowerPoint® 2021</vt:lpwstr>
  </property>
</Properties>
</file>