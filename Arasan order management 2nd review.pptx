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92" r:id="rId8"/>
    <p:sldId id="263" r:id="rId9"/>
    <p:sldId id="264" r:id="rId10"/>
    <p:sldId id="262" r:id="rId11"/>
    <p:sldId id="265" r:id="rId12"/>
    <p:sldId id="266" r:id="rId13"/>
    <p:sldId id="267" r:id="rId14"/>
    <p:sldId id="268" r:id="rId15"/>
    <p:sldId id="269" r:id="rId16"/>
    <p:sldId id="271" r:id="rId17"/>
    <p:sldId id="270" r:id="rId18"/>
    <p:sldId id="272" r:id="rId19"/>
    <p:sldId id="275" r:id="rId20"/>
    <p:sldId id="274" r:id="rId21"/>
    <p:sldId id="273" r:id="rId22"/>
    <p:sldId id="281" r:id="rId23"/>
    <p:sldId id="282" r:id="rId24"/>
    <p:sldId id="283" r:id="rId25"/>
    <p:sldId id="285" r:id="rId26"/>
    <p:sldId id="286" r:id="rId27"/>
    <p:sldId id="287" r:id="rId28"/>
    <p:sldId id="289" r:id="rId29"/>
    <p:sldId id="284" r:id="rId30"/>
    <p:sldId id="288" r:id="rId31"/>
    <p:sldId id="290" r:id="rId32"/>
    <p:sldId id="293" r:id="rId33"/>
    <p:sldId id="280" r:id="rId34"/>
    <p:sldId id="279" r:id="rId35"/>
    <p:sldId id="278" r:id="rId36"/>
    <p:sldId id="277" r:id="rId37"/>
    <p:sldId id="276" r:id="rId38"/>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4/16/2026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4/16/2026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4/16/2026</a:t>
            </a:fld>
            <a:endParaRPr lang="en-US"/>
          </a:p>
        </p:txBody>
      </p:sp>
      <p:sp>
        <p:nvSpPr>
          <p:cNvPr id="7" name="Holder 7"/>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4/16/2026</a:t>
            </a:fld>
            <a:endParaRPr lang="en-US"/>
          </a:p>
        </p:txBody>
      </p:sp>
      <p:sp>
        <p:nvSpPr>
          <p:cNvPr id="5" name="Holder 5"/>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4/16/2026</a:t>
            </a:fld>
            <a:endParaRPr lang="en-US"/>
          </a:p>
        </p:txBody>
      </p:sp>
      <p:sp>
        <p:nvSpPr>
          <p:cNvPr id="4" name="Holder 4"/>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8"/>
          </a:xfrm>
          <a:prstGeom prst="rect">
            <a:avLst/>
          </a:prstGeom>
        </p:spPr>
      </p:pic>
      <p:sp>
        <p:nvSpPr>
          <p:cNvPr id="2" name="Holder 2"/>
          <p:cNvSpPr>
            <a:spLocks noGrp="1"/>
          </p:cNvSpPr>
          <p:nvPr>
            <p:ph type="title"/>
          </p:nvPr>
        </p:nvSpPr>
        <p:spPr>
          <a:xfrm>
            <a:off x="4050919" y="551434"/>
            <a:ext cx="1803400" cy="57404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840739" y="1326451"/>
            <a:ext cx="7454265" cy="2587625"/>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993444" y="6356801"/>
            <a:ext cx="1456689" cy="210820"/>
          </a:xfrm>
          <a:prstGeom prst="rect">
            <a:avLst/>
          </a:prstGeom>
        </p:spPr>
        <p:txBody>
          <a:bodyPr wrap="square" lIns="0" tIns="0" rIns="0" bIns="0">
            <a:spAutoFit/>
          </a:bodyPr>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4/16/2026</a:t>
            </a:fld>
            <a:endParaRPr lang="en-US"/>
          </a:p>
        </p:txBody>
      </p:sp>
      <p:sp>
        <p:nvSpPr>
          <p:cNvPr id="6" name="Holder 6"/>
          <p:cNvSpPr>
            <a:spLocks noGrp="1"/>
          </p:cNvSpPr>
          <p:nvPr>
            <p:ph type="sldNum" sz="quarter" idx="7"/>
          </p:nvPr>
        </p:nvSpPr>
        <p:spPr>
          <a:xfrm>
            <a:off x="8598661" y="6479026"/>
            <a:ext cx="197484" cy="210820"/>
          </a:xfrm>
          <a:prstGeom prst="rect">
            <a:avLst/>
          </a:prstGeom>
        </p:spPr>
        <p:txBody>
          <a:bodyPr wrap="square" lIns="0" tIns="0" rIns="0" bIns="0">
            <a:spAutoFit/>
          </a:bodyPr>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PROJECTS/MINI%20PROJECT/SEM%204/FULL%20CODE.docx"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55709" y="6479844"/>
            <a:ext cx="133985" cy="208279"/>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Verdana"/>
                <a:cs typeface="Verdana"/>
              </a:rPr>
              <a:t>1</a:t>
            </a:r>
            <a:endParaRPr sz="1200">
              <a:latin typeface="Verdana"/>
              <a:cs typeface="Verdana"/>
            </a:endParaRPr>
          </a:p>
        </p:txBody>
      </p:sp>
      <p:sp>
        <p:nvSpPr>
          <p:cNvPr id="4" name="object 4"/>
          <p:cNvSpPr txBox="1"/>
          <p:nvPr/>
        </p:nvSpPr>
        <p:spPr>
          <a:xfrm>
            <a:off x="3894582" y="6276847"/>
            <a:ext cx="135699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0000FF"/>
                </a:solidFill>
                <a:latin typeface="Arial MT"/>
                <a:cs typeface="Arial MT"/>
              </a:rPr>
              <a:t>Department</a:t>
            </a:r>
            <a:r>
              <a:rPr sz="1400" spc="-60" dirty="0">
                <a:solidFill>
                  <a:srgbClr val="0000FF"/>
                </a:solidFill>
                <a:latin typeface="Arial MT"/>
                <a:cs typeface="Arial MT"/>
              </a:rPr>
              <a:t> </a:t>
            </a:r>
            <a:r>
              <a:rPr sz="1400" dirty="0">
                <a:solidFill>
                  <a:srgbClr val="0000FF"/>
                </a:solidFill>
                <a:latin typeface="Arial MT"/>
                <a:cs typeface="Arial MT"/>
              </a:rPr>
              <a:t>of</a:t>
            </a:r>
            <a:r>
              <a:rPr sz="1400" spc="-25" dirty="0">
                <a:solidFill>
                  <a:srgbClr val="0000FF"/>
                </a:solidFill>
                <a:latin typeface="Arial MT"/>
                <a:cs typeface="Arial MT"/>
              </a:rPr>
              <a:t> IT</a:t>
            </a:r>
            <a:endParaRPr sz="1400">
              <a:latin typeface="Arial MT"/>
              <a:cs typeface="Arial MT"/>
            </a:endParaRPr>
          </a:p>
        </p:txBody>
      </p:sp>
      <p:sp>
        <p:nvSpPr>
          <p:cNvPr id="5" name="object 5"/>
          <p:cNvSpPr txBox="1">
            <a:spLocks noGrp="1"/>
          </p:cNvSpPr>
          <p:nvPr>
            <p:ph type="title"/>
          </p:nvPr>
        </p:nvSpPr>
        <p:spPr>
          <a:xfrm>
            <a:off x="1747266" y="653287"/>
            <a:ext cx="6127750" cy="567784"/>
          </a:xfrm>
          <a:prstGeom prst="rect">
            <a:avLst/>
          </a:prstGeom>
        </p:spPr>
        <p:txBody>
          <a:bodyPr vert="horz" wrap="square" lIns="0" tIns="81280" rIns="0" bIns="0" rtlCol="0">
            <a:spAutoFit/>
          </a:bodyPr>
          <a:lstStyle/>
          <a:p>
            <a:pPr marL="2021205" marR="5080" indent="-2009139">
              <a:lnSpc>
                <a:spcPts val="4320"/>
              </a:lnSpc>
              <a:spcBef>
                <a:spcPts val="640"/>
              </a:spcBef>
            </a:pPr>
            <a:r>
              <a:rPr lang="en-US" sz="2400" spc="-30" dirty="0">
                <a:solidFill>
                  <a:srgbClr val="FF0000"/>
                </a:solidFill>
              </a:rPr>
              <a:t>             </a:t>
            </a:r>
            <a:r>
              <a:rPr lang="en-US" sz="2400" spc="-210" dirty="0">
                <a:solidFill>
                  <a:srgbClr val="FF0000"/>
                </a:solidFill>
              </a:rPr>
              <a:t>ORDER  MANAGEMENT  SYSTEM</a:t>
            </a:r>
            <a:endParaRPr sz="2400" dirty="0"/>
          </a:p>
        </p:txBody>
      </p:sp>
      <p:sp>
        <p:nvSpPr>
          <p:cNvPr id="6" name="object 6"/>
          <p:cNvSpPr txBox="1"/>
          <p:nvPr/>
        </p:nvSpPr>
        <p:spPr>
          <a:xfrm>
            <a:off x="1222044" y="2429382"/>
            <a:ext cx="1559560" cy="3606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0000"/>
                </a:solidFill>
                <a:latin typeface="Times New Roman"/>
                <a:cs typeface="Times New Roman"/>
              </a:rPr>
              <a:t>MEMBERS:</a:t>
            </a:r>
            <a:endParaRPr sz="2200" dirty="0">
              <a:latin typeface="Times New Roman"/>
              <a:cs typeface="Times New Roman"/>
            </a:endParaRPr>
          </a:p>
        </p:txBody>
      </p:sp>
      <p:sp>
        <p:nvSpPr>
          <p:cNvPr id="7" name="object 7"/>
          <p:cNvSpPr txBox="1"/>
          <p:nvPr/>
        </p:nvSpPr>
        <p:spPr>
          <a:xfrm>
            <a:off x="3177667" y="2336215"/>
            <a:ext cx="4512945" cy="1314462"/>
          </a:xfrm>
          <a:prstGeom prst="rect">
            <a:avLst/>
          </a:prstGeom>
        </p:spPr>
        <p:txBody>
          <a:bodyPr vert="horz" wrap="square" lIns="0" tIns="105410" rIns="0" bIns="0" rtlCol="0">
            <a:spAutoFit/>
          </a:bodyPr>
          <a:lstStyle/>
          <a:p>
            <a:pPr marL="26034">
              <a:lnSpc>
                <a:spcPct val="100000"/>
              </a:lnSpc>
              <a:spcBef>
                <a:spcPts val="830"/>
              </a:spcBef>
            </a:pPr>
            <a:r>
              <a:rPr lang="en-US" sz="2200" b="1" spc="-135" dirty="0">
                <a:solidFill>
                  <a:srgbClr val="FF0000"/>
                </a:solidFill>
                <a:latin typeface="Times New Roman"/>
                <a:cs typeface="Times New Roman"/>
              </a:rPr>
              <a:t>Elakkiyan T</a:t>
            </a:r>
            <a:r>
              <a:rPr sz="2200" b="1" spc="-135" dirty="0">
                <a:solidFill>
                  <a:srgbClr val="FF0000"/>
                </a:solidFill>
                <a:latin typeface="Times New Roman"/>
                <a:cs typeface="Times New Roman"/>
              </a:rPr>
              <a:t> </a:t>
            </a:r>
            <a:r>
              <a:rPr sz="2200" b="1" spc="-10" dirty="0">
                <a:solidFill>
                  <a:srgbClr val="FF0000"/>
                </a:solidFill>
                <a:latin typeface="Times New Roman"/>
                <a:cs typeface="Times New Roman"/>
              </a:rPr>
              <a:t>(95172024060</a:t>
            </a:r>
            <a:r>
              <a:rPr lang="en-GB" sz="2200" b="1" spc="-10" dirty="0">
                <a:solidFill>
                  <a:srgbClr val="FF0000"/>
                </a:solidFill>
                <a:latin typeface="Times New Roman"/>
                <a:cs typeface="Times New Roman"/>
              </a:rPr>
              <a:t>19</a:t>
            </a:r>
            <a:r>
              <a:rPr sz="2200" b="1" spc="-10" dirty="0">
                <a:solidFill>
                  <a:srgbClr val="FF0000"/>
                </a:solidFill>
                <a:latin typeface="Times New Roman"/>
                <a:cs typeface="Times New Roman"/>
              </a:rPr>
              <a:t>)</a:t>
            </a:r>
            <a:endParaRPr lang="en-GB" sz="2200" b="1" spc="-10" dirty="0">
              <a:solidFill>
                <a:srgbClr val="FF0000"/>
              </a:solidFill>
              <a:latin typeface="Times New Roman"/>
              <a:cs typeface="Times New Roman"/>
            </a:endParaRPr>
          </a:p>
          <a:p>
            <a:pPr marL="26034">
              <a:spcBef>
                <a:spcPts val="830"/>
              </a:spcBef>
            </a:pPr>
            <a:r>
              <a:rPr lang="en-US" sz="2200" b="1" spc="-130" dirty="0">
                <a:solidFill>
                  <a:srgbClr val="FF0000"/>
                </a:solidFill>
                <a:latin typeface="Times New Roman"/>
                <a:cs typeface="Times New Roman"/>
              </a:rPr>
              <a:t>Kesavan  </a:t>
            </a:r>
            <a:r>
              <a:rPr lang="en-US" sz="2200" b="1" spc="-20" dirty="0">
                <a:solidFill>
                  <a:srgbClr val="FF0000"/>
                </a:solidFill>
                <a:latin typeface="Times New Roman"/>
                <a:cs typeface="Times New Roman"/>
              </a:rPr>
              <a:t>G</a:t>
            </a:r>
            <a:r>
              <a:rPr lang="en-US" sz="2200" b="1" spc="-125" dirty="0">
                <a:solidFill>
                  <a:srgbClr val="FF0000"/>
                </a:solidFill>
                <a:latin typeface="Times New Roman"/>
                <a:cs typeface="Times New Roman"/>
              </a:rPr>
              <a:t> </a:t>
            </a:r>
            <a:r>
              <a:rPr lang="en-US" sz="2200" b="1" spc="-10" dirty="0">
                <a:solidFill>
                  <a:srgbClr val="FF0000"/>
                </a:solidFill>
                <a:latin typeface="Times New Roman"/>
                <a:cs typeface="Times New Roman"/>
              </a:rPr>
              <a:t>(9517202406045)</a:t>
            </a:r>
            <a:endParaRPr sz="2200" dirty="0">
              <a:latin typeface="Times New Roman"/>
              <a:cs typeface="Times New Roman"/>
            </a:endParaRPr>
          </a:p>
          <a:p>
            <a:pPr marL="12700">
              <a:lnSpc>
                <a:spcPct val="100000"/>
              </a:lnSpc>
              <a:spcBef>
                <a:spcPts val="730"/>
              </a:spcBef>
            </a:pPr>
            <a:r>
              <a:rPr lang="en-US" sz="2200" b="1" spc="-30" dirty="0">
                <a:solidFill>
                  <a:srgbClr val="FF0000"/>
                </a:solidFill>
                <a:latin typeface="Times New Roman"/>
                <a:cs typeface="Times New Roman"/>
              </a:rPr>
              <a:t>Mohan Raj N</a:t>
            </a:r>
            <a:r>
              <a:rPr sz="2200" b="1" spc="-30" dirty="0">
                <a:solidFill>
                  <a:srgbClr val="FF0000"/>
                </a:solidFill>
                <a:latin typeface="Times New Roman"/>
                <a:cs typeface="Times New Roman"/>
              </a:rPr>
              <a:t> </a:t>
            </a:r>
            <a:r>
              <a:rPr sz="2200" b="1" spc="-10" dirty="0">
                <a:solidFill>
                  <a:srgbClr val="FF0000"/>
                </a:solidFill>
                <a:latin typeface="Times New Roman"/>
                <a:cs typeface="Times New Roman"/>
              </a:rPr>
              <a:t>(95172024060</a:t>
            </a:r>
            <a:r>
              <a:rPr lang="en-US" sz="2200" b="1" spc="-10" dirty="0">
                <a:solidFill>
                  <a:srgbClr val="FF0000"/>
                </a:solidFill>
                <a:latin typeface="Times New Roman"/>
                <a:cs typeface="Times New Roman"/>
              </a:rPr>
              <a:t>55</a:t>
            </a:r>
            <a:r>
              <a:rPr sz="2200" b="1" spc="-10" dirty="0">
                <a:solidFill>
                  <a:srgbClr val="FF0000"/>
                </a:solidFill>
                <a:latin typeface="Times New Roman"/>
                <a:cs typeface="Times New Roman"/>
              </a:rPr>
              <a:t>)</a:t>
            </a:r>
            <a:endParaRPr sz="2200" dirty="0">
              <a:latin typeface="Times New Roman"/>
              <a:cs typeface="Times New Roman"/>
            </a:endParaRPr>
          </a:p>
        </p:txBody>
      </p:sp>
      <p:sp>
        <p:nvSpPr>
          <p:cNvPr id="8" name="object 8"/>
          <p:cNvSpPr txBox="1"/>
          <p:nvPr/>
        </p:nvSpPr>
        <p:spPr>
          <a:xfrm>
            <a:off x="2453385" y="4074840"/>
            <a:ext cx="5149215" cy="941069"/>
          </a:xfrm>
          <a:prstGeom prst="rect">
            <a:avLst/>
          </a:prstGeom>
        </p:spPr>
        <p:txBody>
          <a:bodyPr vert="horz" wrap="square" lIns="0" tIns="104775" rIns="0" bIns="0" rtlCol="0">
            <a:spAutoFit/>
          </a:bodyPr>
          <a:lstStyle/>
          <a:p>
            <a:pPr algn="ctr">
              <a:lnSpc>
                <a:spcPct val="100000"/>
              </a:lnSpc>
              <a:spcBef>
                <a:spcPts val="825"/>
              </a:spcBef>
            </a:pPr>
            <a:r>
              <a:rPr sz="2400" b="1" dirty="0">
                <a:latin typeface="Times New Roman"/>
                <a:cs typeface="Times New Roman"/>
              </a:rPr>
              <a:t>Department</a:t>
            </a:r>
            <a:r>
              <a:rPr sz="2400" b="1" spc="-45" dirty="0">
                <a:latin typeface="Times New Roman"/>
                <a:cs typeface="Times New Roman"/>
              </a:rPr>
              <a:t> </a:t>
            </a:r>
            <a:r>
              <a:rPr sz="2400" b="1" dirty="0">
                <a:latin typeface="Times New Roman"/>
                <a:cs typeface="Times New Roman"/>
              </a:rPr>
              <a:t>of</a:t>
            </a:r>
            <a:r>
              <a:rPr sz="2400" b="1" spc="-30" dirty="0">
                <a:latin typeface="Times New Roman"/>
                <a:cs typeface="Times New Roman"/>
              </a:rPr>
              <a:t> </a:t>
            </a:r>
            <a:r>
              <a:rPr sz="2400" b="1" dirty="0">
                <a:latin typeface="Times New Roman"/>
                <a:cs typeface="Times New Roman"/>
              </a:rPr>
              <a:t>Information</a:t>
            </a:r>
            <a:r>
              <a:rPr sz="2400" b="1" spc="-90" dirty="0">
                <a:latin typeface="Times New Roman"/>
                <a:cs typeface="Times New Roman"/>
              </a:rPr>
              <a:t> </a:t>
            </a:r>
            <a:r>
              <a:rPr sz="2400" b="1" spc="-10" dirty="0">
                <a:latin typeface="Times New Roman"/>
                <a:cs typeface="Times New Roman"/>
              </a:rPr>
              <a:t>Technology</a:t>
            </a:r>
            <a:endParaRPr sz="2400">
              <a:latin typeface="Times New Roman"/>
              <a:cs typeface="Times New Roman"/>
            </a:endParaRPr>
          </a:p>
          <a:p>
            <a:pPr marL="8890" algn="ctr">
              <a:lnSpc>
                <a:spcPct val="100000"/>
              </a:lnSpc>
              <a:spcBef>
                <a:spcPts val="720"/>
              </a:spcBef>
            </a:pPr>
            <a:r>
              <a:rPr sz="2400" b="1" dirty="0">
                <a:latin typeface="Times New Roman"/>
                <a:cs typeface="Times New Roman"/>
              </a:rPr>
              <a:t>Mepco</a:t>
            </a:r>
            <a:r>
              <a:rPr sz="2400" b="1" spc="-20" dirty="0">
                <a:latin typeface="Times New Roman"/>
                <a:cs typeface="Times New Roman"/>
              </a:rPr>
              <a:t> </a:t>
            </a:r>
            <a:r>
              <a:rPr sz="2400" b="1" dirty="0">
                <a:latin typeface="Times New Roman"/>
                <a:cs typeface="Times New Roman"/>
              </a:rPr>
              <a:t>Schlenk</a:t>
            </a:r>
            <a:r>
              <a:rPr sz="2400" b="1" spc="-15" dirty="0">
                <a:latin typeface="Times New Roman"/>
                <a:cs typeface="Times New Roman"/>
              </a:rPr>
              <a:t> </a:t>
            </a:r>
            <a:r>
              <a:rPr sz="2400" b="1" dirty="0">
                <a:latin typeface="Times New Roman"/>
                <a:cs typeface="Times New Roman"/>
              </a:rPr>
              <a:t>Engineering</a:t>
            </a:r>
            <a:r>
              <a:rPr sz="2400" b="1" spc="-20" dirty="0">
                <a:latin typeface="Times New Roman"/>
                <a:cs typeface="Times New Roman"/>
              </a:rPr>
              <a:t> </a:t>
            </a:r>
            <a:r>
              <a:rPr sz="2400" b="1" spc="-10" dirty="0">
                <a:latin typeface="Times New Roman"/>
                <a:cs typeface="Times New Roman"/>
              </a:rPr>
              <a:t>College</a:t>
            </a:r>
            <a:endParaRPr sz="24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1705" y="344170"/>
            <a:ext cx="3789045" cy="574040"/>
          </a:xfrm>
          <a:prstGeom prst="rect">
            <a:avLst/>
          </a:prstGeom>
        </p:spPr>
        <p:txBody>
          <a:bodyPr vert="horz" wrap="square" lIns="0" tIns="12700" rIns="0" bIns="0" rtlCol="0">
            <a:spAutoFit/>
          </a:bodyPr>
          <a:lstStyle/>
          <a:p>
            <a:pPr marL="12700">
              <a:lnSpc>
                <a:spcPct val="100000"/>
              </a:lnSpc>
              <a:spcBef>
                <a:spcPts val="100"/>
              </a:spcBef>
            </a:pPr>
            <a:r>
              <a:rPr dirty="0"/>
              <a:t>Problem</a:t>
            </a:r>
            <a:r>
              <a:rPr spc="-200" dirty="0"/>
              <a:t> </a:t>
            </a:r>
            <a:r>
              <a:rPr spc="-10" dirty="0"/>
              <a:t>Statement</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2</a:t>
            </a:fld>
            <a:endParaRPr spc="-50" dirty="0"/>
          </a:p>
        </p:txBody>
      </p:sp>
      <p:sp>
        <p:nvSpPr>
          <p:cNvPr id="3" name="object 3"/>
          <p:cNvSpPr txBox="1"/>
          <p:nvPr/>
        </p:nvSpPr>
        <p:spPr>
          <a:xfrm>
            <a:off x="764540" y="1485138"/>
            <a:ext cx="8227059" cy="2967479"/>
          </a:xfrm>
          <a:prstGeom prst="rect">
            <a:avLst/>
          </a:prstGeom>
        </p:spPr>
        <p:txBody>
          <a:bodyPr vert="horz" wrap="square" lIns="0" tIns="12700" rIns="0" bIns="0" rtlCol="0">
            <a:spAutoFit/>
          </a:bodyPr>
          <a:lstStyle/>
          <a:p>
            <a:pPr marL="12700" marR="5715" algn="just">
              <a:lnSpc>
                <a:spcPct val="100000"/>
              </a:lnSpc>
              <a:spcBef>
                <a:spcPts val="100"/>
              </a:spcBef>
            </a:pPr>
            <a:r>
              <a:rPr lang="en-US" sz="2400" dirty="0"/>
              <a:t>Arasan </a:t>
            </a:r>
            <a:r>
              <a:rPr lang="en-US" sz="2400" dirty="0" err="1"/>
              <a:t>Aluminium</a:t>
            </a:r>
            <a:r>
              <a:rPr lang="en-US" sz="2400" dirty="0"/>
              <a:t> Industry uses only phone calls and emails for orders. This causes many problems. Orders have many errors. Processing takes 2-3 hours per order. Stock tracking is poor with errors. Customer data is scattered in different places. Sales reports take too long to make. Production planning is difficult. These problems cause losses every year. Customer satisfaction is low. The business cannot grow well in the competitive market.</a:t>
            </a:r>
            <a:endParaRPr sz="24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7244" y="1415922"/>
            <a:ext cx="7995920" cy="3706143"/>
          </a:xfrm>
          <a:prstGeom prst="rect">
            <a:avLst/>
          </a:prstGeom>
        </p:spPr>
        <p:txBody>
          <a:bodyPr vert="horz" wrap="square" lIns="0" tIns="12700" rIns="0" bIns="0" rtlCol="0">
            <a:spAutoFit/>
          </a:bodyPr>
          <a:lstStyle/>
          <a:p>
            <a:r>
              <a:rPr lang="en-US" sz="2400" b="1" dirty="0"/>
              <a:t>1. Reduce Order Processing Time</a:t>
            </a:r>
            <a:br>
              <a:rPr lang="en-US" sz="2400" dirty="0"/>
            </a:br>
            <a:r>
              <a:rPr lang="en-US" sz="2400" dirty="0"/>
              <a:t>     Cut order handling from 3 hours to 30 minutes.</a:t>
            </a:r>
          </a:p>
          <a:p>
            <a:r>
              <a:rPr lang="en-US" sz="2400" b="1" dirty="0"/>
              <a:t>2. Eliminate Order Errors</a:t>
            </a:r>
            <a:br>
              <a:rPr lang="en-US" sz="2400" dirty="0"/>
            </a:br>
            <a:r>
              <a:rPr lang="en-US" sz="2400" dirty="0"/>
              <a:t>     Remove manual entry mistakes with digital system.</a:t>
            </a:r>
          </a:p>
          <a:p>
            <a:r>
              <a:rPr lang="en-US" sz="2400" b="1" dirty="0"/>
              <a:t>3. Track Stock Accurately</a:t>
            </a:r>
            <a:br>
              <a:rPr lang="en-US" sz="2400" dirty="0"/>
            </a:br>
            <a:r>
              <a:rPr lang="en-US" sz="2400" dirty="0"/>
              <a:t>     Know exactly what products are available in real-time.</a:t>
            </a:r>
          </a:p>
          <a:p>
            <a:r>
              <a:rPr lang="en-US" sz="2400" b="1" dirty="0"/>
              <a:t>4. Centralize Customer Data</a:t>
            </a:r>
            <a:br>
              <a:rPr lang="en-US" sz="2400" dirty="0"/>
            </a:br>
            <a:r>
              <a:rPr lang="en-US" sz="2400" dirty="0"/>
              <a:t>     Keep all client information in one secure place.</a:t>
            </a:r>
          </a:p>
          <a:p>
            <a:r>
              <a:rPr lang="en-US" sz="2400" b="1" dirty="0"/>
              <a:t>5. Generate Reports Automatically</a:t>
            </a:r>
            <a:br>
              <a:rPr lang="en-US" sz="2400" dirty="0"/>
            </a:br>
            <a:r>
              <a:rPr lang="en-US" sz="2400" dirty="0"/>
              <a:t>     Create sales and stock reports with one click.</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3</a:t>
            </a:fld>
            <a:endParaRPr spc="-50" dirty="0"/>
          </a:p>
        </p:txBody>
      </p:sp>
      <p:sp>
        <p:nvSpPr>
          <p:cNvPr id="3" name="object 3"/>
          <p:cNvSpPr txBox="1">
            <a:spLocks noGrp="1"/>
          </p:cNvSpPr>
          <p:nvPr>
            <p:ph type="title"/>
          </p:nvPr>
        </p:nvSpPr>
        <p:spPr>
          <a:xfrm>
            <a:off x="3614673" y="475945"/>
            <a:ext cx="1905000" cy="574675"/>
          </a:xfrm>
          <a:prstGeom prst="rect">
            <a:avLst/>
          </a:prstGeom>
        </p:spPr>
        <p:txBody>
          <a:bodyPr vert="horz" wrap="square" lIns="0" tIns="12700" rIns="0" bIns="0" rtlCol="0">
            <a:spAutoFit/>
          </a:bodyPr>
          <a:lstStyle/>
          <a:p>
            <a:pPr marL="12700">
              <a:lnSpc>
                <a:spcPct val="100000"/>
              </a:lnSpc>
              <a:spcBef>
                <a:spcPts val="100"/>
              </a:spcBef>
            </a:pPr>
            <a:r>
              <a:rPr spc="-10" dirty="0"/>
              <a:t>Objective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Outcome</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4</a:t>
            </a:fld>
            <a:endParaRPr spc="-50" dirty="0"/>
          </a:p>
        </p:txBody>
      </p:sp>
      <p:sp>
        <p:nvSpPr>
          <p:cNvPr id="3" name="object 3"/>
          <p:cNvSpPr txBox="1"/>
          <p:nvPr/>
        </p:nvSpPr>
        <p:spPr>
          <a:xfrm>
            <a:off x="840739" y="1360373"/>
            <a:ext cx="8187055" cy="4203715"/>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400" b="1" dirty="0"/>
              <a:t>Java-based system developed for order management</a:t>
            </a:r>
            <a:br>
              <a:rPr lang="en-US" sz="2400" dirty="0"/>
            </a:br>
            <a:r>
              <a:rPr lang="en-US" sz="2400" dirty="0"/>
              <a:t>   Easy-to-use interface for all operations.</a:t>
            </a:r>
          </a:p>
          <a:p>
            <a:pPr marL="342900" indent="-342900">
              <a:buFont typeface="Arial" panose="020B0604020202020204" pitchFamily="34" charset="0"/>
              <a:buChar char="•"/>
            </a:pPr>
            <a:r>
              <a:rPr lang="en-US" sz="2400" b="1" dirty="0"/>
              <a:t>Secure MySQL database implemented</a:t>
            </a:r>
            <a:br>
              <a:rPr lang="en-US" sz="2400" dirty="0"/>
            </a:br>
            <a:r>
              <a:rPr lang="en-US" sz="2400" dirty="0"/>
              <a:t>   All order and inventory data stored safely.</a:t>
            </a:r>
          </a:p>
          <a:p>
            <a:pPr marL="342900" indent="-342900">
              <a:buFont typeface="Arial" panose="020B0604020202020204" pitchFamily="34" charset="0"/>
              <a:buChar char="•"/>
            </a:pPr>
            <a:r>
              <a:rPr lang="en-US" sz="2400" b="1" dirty="0"/>
              <a:t>Automated order processing and stock updates</a:t>
            </a:r>
            <a:br>
              <a:rPr lang="en-US" sz="2400" dirty="0"/>
            </a:br>
            <a:r>
              <a:rPr lang="en-US" sz="2400" dirty="0"/>
              <a:t>   Improved accuracy and reduced manual work.</a:t>
            </a:r>
          </a:p>
          <a:p>
            <a:pPr marL="342900" indent="-342900">
              <a:buFont typeface="Arial" panose="020B0604020202020204" pitchFamily="34" charset="0"/>
              <a:buChar char="•"/>
            </a:pPr>
            <a:r>
              <a:rPr lang="en-US" sz="2400" b="1" dirty="0"/>
              <a:t>Real-time stock tracking with alerts</a:t>
            </a:r>
            <a:br>
              <a:rPr lang="en-US" sz="2400" dirty="0"/>
            </a:br>
            <a:r>
              <a:rPr lang="en-US" sz="2400" dirty="0"/>
              <a:t>   Prevents shortages and overstocking.</a:t>
            </a:r>
          </a:p>
          <a:p>
            <a:pPr marL="342900" indent="-342900">
              <a:buFont typeface="Arial" panose="020B0604020202020204" pitchFamily="34" charset="0"/>
              <a:buChar char="•"/>
            </a:pPr>
            <a:r>
              <a:rPr lang="en-US" sz="2400" b="1" dirty="0"/>
              <a:t>Efficient customer and order management</a:t>
            </a:r>
            <a:br>
              <a:rPr lang="en-US" sz="2400" dirty="0"/>
            </a:br>
            <a:r>
              <a:rPr lang="en-US" sz="2400" dirty="0"/>
              <a:t>   Easy to add, update, and track information.</a:t>
            </a:r>
          </a:p>
          <a:p>
            <a:pPr marL="12700" marR="1118870">
              <a:lnSpc>
                <a:spcPct val="100000"/>
              </a:lnSpc>
              <a:spcBef>
                <a:spcPts val="965"/>
              </a:spcBef>
              <a:tabLst>
                <a:tab pos="195580" algn="l"/>
              </a:tabLst>
            </a:pPr>
            <a:endParaRPr sz="24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53695">
              <a:lnSpc>
                <a:spcPct val="100000"/>
              </a:lnSpc>
              <a:spcBef>
                <a:spcPts val="100"/>
              </a:spcBef>
            </a:pPr>
            <a:r>
              <a:rPr spc="-10" dirty="0"/>
              <a:t>Input</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5</a:t>
            </a:fld>
            <a:endParaRPr spc="-50" dirty="0"/>
          </a:p>
        </p:txBody>
      </p:sp>
      <p:sp>
        <p:nvSpPr>
          <p:cNvPr id="3" name="object 3"/>
          <p:cNvSpPr txBox="1"/>
          <p:nvPr/>
        </p:nvSpPr>
        <p:spPr>
          <a:xfrm>
            <a:off x="840739" y="1433525"/>
            <a:ext cx="7895590" cy="3336811"/>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Customer details (company name, contact person, address, phone, email, etc.)</a:t>
            </a: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Product details (product code, name, description, price, stock, etc.)</a:t>
            </a: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Order details (order date, customer, products, quantities, etc.)</a:t>
            </a: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Stock updates (when new stock arrives or stock is adjusted)</a:t>
            </a: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User login (if we have authentication)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27703" y="627634"/>
            <a:ext cx="1448435" cy="574040"/>
          </a:xfrm>
          <a:prstGeom prst="rect">
            <a:avLst/>
          </a:prstGeom>
        </p:spPr>
        <p:txBody>
          <a:bodyPr vert="horz" wrap="square" lIns="0" tIns="12700" rIns="0" bIns="0" rtlCol="0">
            <a:spAutoFit/>
          </a:bodyPr>
          <a:lstStyle/>
          <a:p>
            <a:pPr marL="12700">
              <a:lnSpc>
                <a:spcPct val="100000"/>
              </a:lnSpc>
              <a:spcBef>
                <a:spcPts val="100"/>
              </a:spcBef>
            </a:pPr>
            <a:r>
              <a:rPr spc="-10" dirty="0"/>
              <a:t>Output</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6</a:t>
            </a:fld>
            <a:endParaRPr spc="-50" dirty="0"/>
          </a:p>
        </p:txBody>
      </p:sp>
      <p:sp>
        <p:nvSpPr>
          <p:cNvPr id="3" name="object 3"/>
          <p:cNvSpPr txBox="1">
            <a:spLocks noGrp="1"/>
          </p:cNvSpPr>
          <p:nvPr>
            <p:ph type="body" idx="1"/>
          </p:nvPr>
        </p:nvSpPr>
        <p:spPr>
          <a:xfrm>
            <a:off x="840739" y="1326451"/>
            <a:ext cx="7454265" cy="3780522"/>
          </a:xfrm>
          <a:prstGeom prst="rect">
            <a:avLst/>
          </a:prstGeom>
        </p:spPr>
        <p:txBody>
          <a:bodyPr vert="horz" wrap="square" lIns="0" tIns="86360" rIns="0" bIns="0" rtlCol="0">
            <a:spAutoFit/>
          </a:bodyPr>
          <a:lstStyle/>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Secure storage of customer, product, and order data in MySQL database</a:t>
            </a:r>
          </a:p>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Display of order details, inventory status, and customer information through Java interface</a:t>
            </a:r>
          </a:p>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Automatically generated invoices and order summaries</a:t>
            </a:r>
          </a:p>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Updated and accurate inventory records after each transaction</a:t>
            </a:r>
          </a:p>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Efficient retrieval of order history and product availability when required</a:t>
            </a:r>
            <a:br>
              <a:rPr lang="en-US" dirty="0">
                <a:effectLst>
                  <a:outerShdw blurRad="38100" dist="38100" dir="2700000" algn="tl">
                    <a:srgbClr val="000000">
                      <a:alpha val="43137"/>
                    </a:srgbClr>
                  </a:outerShdw>
                </a:effectLst>
              </a:rPr>
            </a:br>
            <a:endParaRPr spc="-10" dirty="0">
              <a:effectLst>
                <a:outerShdw blurRad="38100" dist="38100" dir="2700000" algn="tl">
                  <a:srgbClr val="000000">
                    <a:alpha val="43137"/>
                  </a:srgbClr>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5DE0-FE4A-89E1-1385-E6565467B2D4}"/>
              </a:ext>
            </a:extLst>
          </p:cNvPr>
          <p:cNvSpPr>
            <a:spLocks noGrp="1"/>
          </p:cNvSpPr>
          <p:nvPr>
            <p:ph type="title"/>
          </p:nvPr>
        </p:nvSpPr>
        <p:spPr>
          <a:xfrm>
            <a:off x="1143000" y="381000"/>
            <a:ext cx="3276600" cy="1107996"/>
          </a:xfrm>
        </p:spPr>
        <p:txBody>
          <a:bodyPr/>
          <a:lstStyle/>
          <a:p>
            <a:r>
              <a:rPr lang="en-GB" dirty="0"/>
              <a:t>Flow Chart</a:t>
            </a:r>
            <a:endParaRPr lang="en-IN" dirty="0"/>
          </a:p>
        </p:txBody>
      </p:sp>
      <p:pic>
        <p:nvPicPr>
          <p:cNvPr id="5" name="Picture 4">
            <a:extLst>
              <a:ext uri="{FF2B5EF4-FFF2-40B4-BE49-F238E27FC236}">
                <a16:creationId xmlns:a16="http://schemas.microsoft.com/office/drawing/2014/main" id="{B912041C-9C10-1FB2-873D-A580447C4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1132788"/>
            <a:ext cx="5943599" cy="5181600"/>
          </a:xfrm>
          <a:prstGeom prst="rect">
            <a:avLst/>
          </a:prstGeom>
        </p:spPr>
      </p:pic>
      <p:sp>
        <p:nvSpPr>
          <p:cNvPr id="8" name="Rectangle 7">
            <a:extLst>
              <a:ext uri="{FF2B5EF4-FFF2-40B4-BE49-F238E27FC236}">
                <a16:creationId xmlns:a16="http://schemas.microsoft.com/office/drawing/2014/main" id="{3AB32A3F-A8A5-27BB-9218-9786372A1299}"/>
              </a:ext>
            </a:extLst>
          </p:cNvPr>
          <p:cNvSpPr/>
          <p:nvPr/>
        </p:nvSpPr>
        <p:spPr>
          <a:xfrm>
            <a:off x="6553200" y="6012581"/>
            <a:ext cx="1447800"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8005C66-9551-5151-8010-51FF8856F06E}"/>
              </a:ext>
            </a:extLst>
          </p:cNvPr>
          <p:cNvSpPr/>
          <p:nvPr/>
        </p:nvSpPr>
        <p:spPr>
          <a:xfrm>
            <a:off x="3581400" y="2209800"/>
            <a:ext cx="838200" cy="2286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GB" dirty="0"/>
              <a:t>User</a:t>
            </a:r>
            <a:endParaRPr lang="en-IN" dirty="0"/>
          </a:p>
        </p:txBody>
      </p:sp>
      <p:sp>
        <p:nvSpPr>
          <p:cNvPr id="10" name="Rectangle 9">
            <a:extLst>
              <a:ext uri="{FF2B5EF4-FFF2-40B4-BE49-F238E27FC236}">
                <a16:creationId xmlns:a16="http://schemas.microsoft.com/office/drawing/2014/main" id="{88DB38A9-6FEF-F229-0A6A-37AB34805523}"/>
              </a:ext>
            </a:extLst>
          </p:cNvPr>
          <p:cNvSpPr/>
          <p:nvPr/>
        </p:nvSpPr>
        <p:spPr>
          <a:xfrm>
            <a:off x="6553200" y="6019800"/>
            <a:ext cx="1447800"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EBA0E353-9C24-2BFC-BD2B-64B97642ECBC}"/>
              </a:ext>
            </a:extLst>
          </p:cNvPr>
          <p:cNvSpPr/>
          <p:nvPr/>
        </p:nvSpPr>
        <p:spPr>
          <a:xfrm>
            <a:off x="6705599" y="6005362"/>
            <a:ext cx="1447800"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4C92BE10-B547-C706-3EBC-FD45232C6FD3}"/>
              </a:ext>
            </a:extLst>
          </p:cNvPr>
          <p:cNvSpPr/>
          <p:nvPr/>
        </p:nvSpPr>
        <p:spPr>
          <a:xfrm>
            <a:off x="6211101" y="2184131"/>
            <a:ext cx="951699" cy="22860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Admin</a:t>
            </a:r>
            <a:endParaRPr lang="en-IN" dirty="0"/>
          </a:p>
        </p:txBody>
      </p:sp>
      <p:sp>
        <p:nvSpPr>
          <p:cNvPr id="15" name="Rectangle 14">
            <a:extLst>
              <a:ext uri="{FF2B5EF4-FFF2-40B4-BE49-F238E27FC236}">
                <a16:creationId xmlns:a16="http://schemas.microsoft.com/office/drawing/2014/main" id="{E5D11517-34FB-5461-8FD8-2ED271B89771}"/>
              </a:ext>
            </a:extLst>
          </p:cNvPr>
          <p:cNvSpPr/>
          <p:nvPr/>
        </p:nvSpPr>
        <p:spPr>
          <a:xfrm>
            <a:off x="2743200" y="1295399"/>
            <a:ext cx="4953000" cy="2358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07763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26DD2C-76D1-3A07-F4F2-FF12079B4470}"/>
              </a:ext>
            </a:extLst>
          </p:cNvPr>
          <p:cNvSpPr txBox="1"/>
          <p:nvPr/>
        </p:nvSpPr>
        <p:spPr>
          <a:xfrm>
            <a:off x="838200" y="897181"/>
            <a:ext cx="3962400" cy="523220"/>
          </a:xfrm>
          <a:prstGeom prst="rect">
            <a:avLst/>
          </a:prstGeom>
          <a:noFill/>
        </p:spPr>
        <p:txBody>
          <a:bodyPr wrap="square" rtlCol="0">
            <a:spAutoFit/>
          </a:bodyPr>
          <a:lstStyle/>
          <a:p>
            <a:r>
              <a:rPr lang="en-IN" sz="2800" b="1" u="sng" dirty="0"/>
              <a:t>Main Flow :</a:t>
            </a:r>
          </a:p>
        </p:txBody>
      </p:sp>
      <p:sp>
        <p:nvSpPr>
          <p:cNvPr id="6" name="Rectangle 5">
            <a:extLst>
              <a:ext uri="{FF2B5EF4-FFF2-40B4-BE49-F238E27FC236}">
                <a16:creationId xmlns:a16="http://schemas.microsoft.com/office/drawing/2014/main" id="{059441FF-5A5D-A809-63C4-3BA26041EFFF}"/>
              </a:ext>
            </a:extLst>
          </p:cNvPr>
          <p:cNvSpPr/>
          <p:nvPr/>
        </p:nvSpPr>
        <p:spPr>
          <a:xfrm>
            <a:off x="3295650" y="3196775"/>
            <a:ext cx="2438400" cy="160913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800" u="sng" dirty="0"/>
              <a:t> Login Id</a:t>
            </a:r>
            <a:r>
              <a:rPr lang="en-IN" sz="2800" dirty="0"/>
              <a:t> </a:t>
            </a:r>
          </a:p>
          <a:p>
            <a:pPr algn="ctr"/>
            <a:r>
              <a:rPr lang="en-IN" sz="2800" dirty="0"/>
              <a:t>(User or      </a:t>
            </a:r>
          </a:p>
          <a:p>
            <a:pPr algn="ctr"/>
            <a:r>
              <a:rPr lang="en-IN" sz="2800" dirty="0"/>
              <a:t>   Admin)</a:t>
            </a:r>
          </a:p>
        </p:txBody>
      </p:sp>
      <p:cxnSp>
        <p:nvCxnSpPr>
          <p:cNvPr id="16" name="Straight Connector 15">
            <a:extLst>
              <a:ext uri="{FF2B5EF4-FFF2-40B4-BE49-F238E27FC236}">
                <a16:creationId xmlns:a16="http://schemas.microsoft.com/office/drawing/2014/main" id="{9FD5C81D-2046-93D4-DCC0-3DC18EABBEDF}"/>
              </a:ext>
            </a:extLst>
          </p:cNvPr>
          <p:cNvCxnSpPr>
            <a:cxnSpLocks/>
          </p:cNvCxnSpPr>
          <p:nvPr/>
        </p:nvCxnSpPr>
        <p:spPr>
          <a:xfrm>
            <a:off x="4514850" y="2362200"/>
            <a:ext cx="0" cy="812452"/>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7D229D7A-2B29-FB4F-2EF9-0D2D66A96DFB}"/>
              </a:ext>
            </a:extLst>
          </p:cNvPr>
          <p:cNvCxnSpPr/>
          <p:nvPr/>
        </p:nvCxnSpPr>
        <p:spPr>
          <a:xfrm>
            <a:off x="4532671" y="4805905"/>
            <a:ext cx="0" cy="457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68733C25-6736-59D5-E984-96E6AB07EDA7}"/>
              </a:ext>
            </a:extLst>
          </p:cNvPr>
          <p:cNvCxnSpPr>
            <a:cxnSpLocks/>
          </p:cNvCxnSpPr>
          <p:nvPr/>
        </p:nvCxnSpPr>
        <p:spPr>
          <a:xfrm>
            <a:off x="2476500" y="5277853"/>
            <a:ext cx="4381500" cy="0"/>
          </a:xfrm>
          <a:prstGeom prst="line">
            <a:avLst/>
          </a:prstGeom>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213EE565-4B3D-E561-4DDE-5A2D70C0ECE9}"/>
              </a:ext>
            </a:extLst>
          </p:cNvPr>
          <p:cNvSpPr/>
          <p:nvPr/>
        </p:nvSpPr>
        <p:spPr>
          <a:xfrm>
            <a:off x="1600200" y="5694417"/>
            <a:ext cx="2057400" cy="4455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2400" dirty="0"/>
              <a:t>ADMIN FLOW</a:t>
            </a:r>
          </a:p>
        </p:txBody>
      </p:sp>
      <p:sp>
        <p:nvSpPr>
          <p:cNvPr id="24" name="Rectangle 23">
            <a:extLst>
              <a:ext uri="{FF2B5EF4-FFF2-40B4-BE49-F238E27FC236}">
                <a16:creationId xmlns:a16="http://schemas.microsoft.com/office/drawing/2014/main" id="{5E5AC29E-DBC9-09D6-DC73-1E16A1171BE2}"/>
              </a:ext>
            </a:extLst>
          </p:cNvPr>
          <p:cNvSpPr/>
          <p:nvPr/>
        </p:nvSpPr>
        <p:spPr>
          <a:xfrm>
            <a:off x="5734050" y="5677211"/>
            <a:ext cx="2057400" cy="4455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2400" dirty="0"/>
              <a:t>USER FLOW</a:t>
            </a:r>
          </a:p>
        </p:txBody>
      </p:sp>
      <p:cxnSp>
        <p:nvCxnSpPr>
          <p:cNvPr id="28" name="Straight Arrow Connector 27">
            <a:extLst>
              <a:ext uri="{FF2B5EF4-FFF2-40B4-BE49-F238E27FC236}">
                <a16:creationId xmlns:a16="http://schemas.microsoft.com/office/drawing/2014/main" id="{39CE9661-9534-CD8B-38E8-10B8D28271B8}"/>
              </a:ext>
            </a:extLst>
          </p:cNvPr>
          <p:cNvCxnSpPr/>
          <p:nvPr/>
        </p:nvCxnSpPr>
        <p:spPr>
          <a:xfrm>
            <a:off x="2476500" y="5286456"/>
            <a:ext cx="0" cy="381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FBD4AD1-3A9A-DF20-C880-19AB79AE767A}"/>
              </a:ext>
            </a:extLst>
          </p:cNvPr>
          <p:cNvCxnSpPr/>
          <p:nvPr/>
        </p:nvCxnSpPr>
        <p:spPr>
          <a:xfrm>
            <a:off x="6858000" y="5277853"/>
            <a:ext cx="0" cy="381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96630156-4B78-38D7-37B0-0014C4F7FBE7}"/>
              </a:ext>
            </a:extLst>
          </p:cNvPr>
          <p:cNvCxnSpPr>
            <a:cxnSpLocks/>
          </p:cNvCxnSpPr>
          <p:nvPr/>
        </p:nvCxnSpPr>
        <p:spPr>
          <a:xfrm>
            <a:off x="2476500" y="6139948"/>
            <a:ext cx="0" cy="260852"/>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87CFE6B5-4B15-6BDA-941D-B0697A023673}"/>
              </a:ext>
            </a:extLst>
          </p:cNvPr>
          <p:cNvCxnSpPr>
            <a:cxnSpLocks/>
          </p:cNvCxnSpPr>
          <p:nvPr/>
        </p:nvCxnSpPr>
        <p:spPr>
          <a:xfrm>
            <a:off x="6324600" y="6139948"/>
            <a:ext cx="0" cy="260852"/>
          </a:xfrm>
          <a:prstGeom prst="line">
            <a:avLst/>
          </a:prstGeom>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19DF143D-B984-843A-E51E-0BE34B8FDB66}"/>
              </a:ext>
            </a:extLst>
          </p:cNvPr>
          <p:cNvSpPr txBox="1"/>
          <p:nvPr/>
        </p:nvSpPr>
        <p:spPr>
          <a:xfrm>
            <a:off x="3276601" y="25297"/>
            <a:ext cx="3581399" cy="830997"/>
          </a:xfrm>
          <a:prstGeom prst="rect">
            <a:avLst/>
          </a:prstGeom>
          <a:noFill/>
        </p:spPr>
        <p:txBody>
          <a:bodyPr wrap="square" rtlCol="0">
            <a:spAutoFit/>
          </a:bodyPr>
          <a:lstStyle/>
          <a:p>
            <a:r>
              <a:rPr lang="en-US" sz="4800" u="sng" dirty="0"/>
              <a:t>Work Flow</a:t>
            </a:r>
            <a:endParaRPr lang="en-IN" sz="4800" u="sng" dirty="0"/>
          </a:p>
        </p:txBody>
      </p:sp>
      <p:sp>
        <p:nvSpPr>
          <p:cNvPr id="9" name="Oval 8">
            <a:extLst>
              <a:ext uri="{FF2B5EF4-FFF2-40B4-BE49-F238E27FC236}">
                <a16:creationId xmlns:a16="http://schemas.microsoft.com/office/drawing/2014/main" id="{D971DCA7-89CB-C8DF-D174-613FAEA04210}"/>
              </a:ext>
            </a:extLst>
          </p:cNvPr>
          <p:cNvSpPr/>
          <p:nvPr/>
        </p:nvSpPr>
        <p:spPr>
          <a:xfrm>
            <a:off x="3884236" y="1538687"/>
            <a:ext cx="1219200" cy="81245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b="1" dirty="0"/>
              <a:t>START</a:t>
            </a:r>
            <a:endParaRPr lang="en-IN" b="1" dirty="0"/>
          </a:p>
        </p:txBody>
      </p:sp>
      <p:sp>
        <p:nvSpPr>
          <p:cNvPr id="4" name="Oval 3">
            <a:extLst>
              <a:ext uri="{FF2B5EF4-FFF2-40B4-BE49-F238E27FC236}">
                <a16:creationId xmlns:a16="http://schemas.microsoft.com/office/drawing/2014/main" id="{B7511CA2-D211-1C38-4DBC-E7C9991AD867}"/>
              </a:ext>
            </a:extLst>
          </p:cNvPr>
          <p:cNvSpPr/>
          <p:nvPr/>
        </p:nvSpPr>
        <p:spPr>
          <a:xfrm>
            <a:off x="2286000" y="6400800"/>
            <a:ext cx="380997" cy="381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1</a:t>
            </a:r>
            <a:endParaRPr lang="en-IN" dirty="0"/>
          </a:p>
        </p:txBody>
      </p:sp>
      <p:sp>
        <p:nvSpPr>
          <p:cNvPr id="8" name="Oval 7">
            <a:extLst>
              <a:ext uri="{FF2B5EF4-FFF2-40B4-BE49-F238E27FC236}">
                <a16:creationId xmlns:a16="http://schemas.microsoft.com/office/drawing/2014/main" id="{F8A0DB76-EEC8-1291-5D04-3BBAA033EE3A}"/>
              </a:ext>
            </a:extLst>
          </p:cNvPr>
          <p:cNvSpPr/>
          <p:nvPr/>
        </p:nvSpPr>
        <p:spPr>
          <a:xfrm>
            <a:off x="6134101" y="6400800"/>
            <a:ext cx="380997" cy="381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2</a:t>
            </a:r>
            <a:endParaRPr lang="en-IN" dirty="0"/>
          </a:p>
        </p:txBody>
      </p:sp>
    </p:spTree>
    <p:extLst>
      <p:ext uri="{BB962C8B-B14F-4D97-AF65-F5344CB8AC3E}">
        <p14:creationId xmlns:p14="http://schemas.microsoft.com/office/powerpoint/2010/main" val="3528253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AB6162-5760-0BE4-9FE9-8320A2DE0BAD}"/>
              </a:ext>
            </a:extLst>
          </p:cNvPr>
          <p:cNvSpPr txBox="1"/>
          <p:nvPr/>
        </p:nvSpPr>
        <p:spPr>
          <a:xfrm>
            <a:off x="838200" y="491370"/>
            <a:ext cx="3733800" cy="400110"/>
          </a:xfrm>
          <a:prstGeom prst="rect">
            <a:avLst/>
          </a:prstGeom>
          <a:noFill/>
        </p:spPr>
        <p:txBody>
          <a:bodyPr wrap="square" rtlCol="0">
            <a:spAutoFit/>
          </a:bodyPr>
          <a:lstStyle/>
          <a:p>
            <a:r>
              <a:rPr lang="en-IN" sz="2000" b="1" u="sng" dirty="0"/>
              <a:t>USER  FLOW :</a:t>
            </a:r>
          </a:p>
        </p:txBody>
      </p:sp>
      <p:sp>
        <p:nvSpPr>
          <p:cNvPr id="8" name="Rectangle 7">
            <a:extLst>
              <a:ext uri="{FF2B5EF4-FFF2-40B4-BE49-F238E27FC236}">
                <a16:creationId xmlns:a16="http://schemas.microsoft.com/office/drawing/2014/main" id="{70AE28DE-395F-BAAF-B88E-F25CD4DB458E}"/>
              </a:ext>
            </a:extLst>
          </p:cNvPr>
          <p:cNvSpPr/>
          <p:nvPr/>
        </p:nvSpPr>
        <p:spPr>
          <a:xfrm>
            <a:off x="3609515" y="545183"/>
            <a:ext cx="1828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 Login / Sign Up </a:t>
            </a:r>
          </a:p>
        </p:txBody>
      </p:sp>
      <p:sp>
        <p:nvSpPr>
          <p:cNvPr id="9" name="Rectangle 8">
            <a:extLst>
              <a:ext uri="{FF2B5EF4-FFF2-40B4-BE49-F238E27FC236}">
                <a16:creationId xmlns:a16="http://schemas.microsoft.com/office/drawing/2014/main" id="{2F2B8D79-4A5D-51F8-EFE0-01316A9A57B6}"/>
              </a:ext>
            </a:extLst>
          </p:cNvPr>
          <p:cNvSpPr/>
          <p:nvPr/>
        </p:nvSpPr>
        <p:spPr>
          <a:xfrm>
            <a:off x="2199968" y="4111013"/>
            <a:ext cx="1828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Place Order   (</a:t>
            </a:r>
            <a:r>
              <a:rPr lang="en-IN" dirty="0" err="1"/>
              <a:t>Qty,Confirm</a:t>
            </a:r>
            <a:r>
              <a:rPr lang="en-IN" dirty="0"/>
              <a:t>)</a:t>
            </a:r>
          </a:p>
        </p:txBody>
      </p:sp>
      <p:sp>
        <p:nvSpPr>
          <p:cNvPr id="10" name="Rectangle 9">
            <a:extLst>
              <a:ext uri="{FF2B5EF4-FFF2-40B4-BE49-F238E27FC236}">
                <a16:creationId xmlns:a16="http://schemas.microsoft.com/office/drawing/2014/main" id="{6BAB55E3-534A-C50F-B7EE-2979AF5A0B14}"/>
              </a:ext>
            </a:extLst>
          </p:cNvPr>
          <p:cNvSpPr/>
          <p:nvPr/>
        </p:nvSpPr>
        <p:spPr>
          <a:xfrm>
            <a:off x="3610894" y="1307183"/>
            <a:ext cx="1828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 View Products</a:t>
            </a:r>
            <a:endParaRPr lang="en-IN" dirty="0"/>
          </a:p>
        </p:txBody>
      </p:sp>
      <p:sp>
        <p:nvSpPr>
          <p:cNvPr id="12" name="Rectangle 11">
            <a:extLst>
              <a:ext uri="{FF2B5EF4-FFF2-40B4-BE49-F238E27FC236}">
                <a16:creationId xmlns:a16="http://schemas.microsoft.com/office/drawing/2014/main" id="{E4D9DC67-CC0C-1580-5431-B93B2F712884}"/>
              </a:ext>
            </a:extLst>
          </p:cNvPr>
          <p:cNvSpPr/>
          <p:nvPr/>
        </p:nvSpPr>
        <p:spPr>
          <a:xfrm>
            <a:off x="1143000" y="2470289"/>
            <a:ext cx="1828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View Product    Details </a:t>
            </a:r>
          </a:p>
        </p:txBody>
      </p:sp>
      <p:sp>
        <p:nvSpPr>
          <p:cNvPr id="13" name="Rectangle 12">
            <a:extLst>
              <a:ext uri="{FF2B5EF4-FFF2-40B4-BE49-F238E27FC236}">
                <a16:creationId xmlns:a16="http://schemas.microsoft.com/office/drawing/2014/main" id="{FA1BC7D6-40CF-1FDD-C5AD-1B1201774750}"/>
              </a:ext>
            </a:extLst>
          </p:cNvPr>
          <p:cNvSpPr/>
          <p:nvPr/>
        </p:nvSpPr>
        <p:spPr>
          <a:xfrm>
            <a:off x="5053780" y="4108555"/>
            <a:ext cx="1828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 Payment </a:t>
            </a:r>
          </a:p>
        </p:txBody>
      </p:sp>
      <p:sp>
        <p:nvSpPr>
          <p:cNvPr id="15" name="Rectangle 14">
            <a:extLst>
              <a:ext uri="{FF2B5EF4-FFF2-40B4-BE49-F238E27FC236}">
                <a16:creationId xmlns:a16="http://schemas.microsoft.com/office/drawing/2014/main" id="{457C3E9C-7B61-CE84-289D-DB4C3894496F}"/>
              </a:ext>
            </a:extLst>
          </p:cNvPr>
          <p:cNvSpPr/>
          <p:nvPr/>
        </p:nvSpPr>
        <p:spPr>
          <a:xfrm>
            <a:off x="3657600" y="5075769"/>
            <a:ext cx="1828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Order Placed        Successfully </a:t>
            </a:r>
          </a:p>
        </p:txBody>
      </p:sp>
      <p:sp>
        <p:nvSpPr>
          <p:cNvPr id="16" name="Rectangle 15">
            <a:extLst>
              <a:ext uri="{FF2B5EF4-FFF2-40B4-BE49-F238E27FC236}">
                <a16:creationId xmlns:a16="http://schemas.microsoft.com/office/drawing/2014/main" id="{B1F9B8E5-AD08-9A7E-73E5-B70218888815}"/>
              </a:ext>
            </a:extLst>
          </p:cNvPr>
          <p:cNvSpPr/>
          <p:nvPr/>
        </p:nvSpPr>
        <p:spPr>
          <a:xfrm>
            <a:off x="6019801" y="2430586"/>
            <a:ext cx="2438397" cy="9800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View Order History and track (date, id, amount, status) </a:t>
            </a:r>
            <a:endParaRPr lang="en-IN" dirty="0"/>
          </a:p>
        </p:txBody>
      </p:sp>
      <p:sp>
        <p:nvSpPr>
          <p:cNvPr id="17" name="Rectangle 16">
            <a:extLst>
              <a:ext uri="{FF2B5EF4-FFF2-40B4-BE49-F238E27FC236}">
                <a16:creationId xmlns:a16="http://schemas.microsoft.com/office/drawing/2014/main" id="{7A9EDF49-2EBD-2B48-90D3-3CF2AD1C6E1B}"/>
              </a:ext>
            </a:extLst>
          </p:cNvPr>
          <p:cNvSpPr/>
          <p:nvPr/>
        </p:nvSpPr>
        <p:spPr>
          <a:xfrm>
            <a:off x="3644081" y="2430586"/>
            <a:ext cx="1828799"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 Give Feedback</a:t>
            </a:r>
          </a:p>
        </p:txBody>
      </p:sp>
      <p:cxnSp>
        <p:nvCxnSpPr>
          <p:cNvPr id="20" name="Straight Arrow Connector 19">
            <a:extLst>
              <a:ext uri="{FF2B5EF4-FFF2-40B4-BE49-F238E27FC236}">
                <a16:creationId xmlns:a16="http://schemas.microsoft.com/office/drawing/2014/main" id="{C54EBA40-185C-09B8-A979-B920F81680EA}"/>
              </a:ext>
            </a:extLst>
          </p:cNvPr>
          <p:cNvCxnSpPr>
            <a:stCxn id="8" idx="2"/>
            <a:endCxn id="10" idx="0"/>
          </p:cNvCxnSpPr>
          <p:nvPr/>
        </p:nvCxnSpPr>
        <p:spPr>
          <a:xfrm>
            <a:off x="4523915" y="1154783"/>
            <a:ext cx="1379" cy="152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9525DD2C-9E47-9E42-1AE5-873DC33A26A2}"/>
              </a:ext>
            </a:extLst>
          </p:cNvPr>
          <p:cNvCxnSpPr>
            <a:cxnSpLocks/>
          </p:cNvCxnSpPr>
          <p:nvPr/>
        </p:nvCxnSpPr>
        <p:spPr>
          <a:xfrm>
            <a:off x="4558480" y="1981200"/>
            <a:ext cx="0" cy="4493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8E1ACE5C-E904-B987-109B-0B88CA1474B8}"/>
              </a:ext>
            </a:extLst>
          </p:cNvPr>
          <p:cNvCxnSpPr>
            <a:cxnSpLocks/>
          </p:cNvCxnSpPr>
          <p:nvPr/>
        </p:nvCxnSpPr>
        <p:spPr>
          <a:xfrm>
            <a:off x="1981200" y="1496956"/>
            <a:ext cx="1629694" cy="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1A62931A-E7F0-DB0B-C4A4-2955379FDCCB}"/>
              </a:ext>
            </a:extLst>
          </p:cNvPr>
          <p:cNvCxnSpPr/>
          <p:nvPr/>
        </p:nvCxnSpPr>
        <p:spPr>
          <a:xfrm>
            <a:off x="5486400" y="1496956"/>
            <a:ext cx="1676400" cy="0"/>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5FCDB563-DF3C-FD68-E9B1-2D244A2E6A41}"/>
              </a:ext>
            </a:extLst>
          </p:cNvPr>
          <p:cNvCxnSpPr>
            <a:cxnSpLocks/>
          </p:cNvCxnSpPr>
          <p:nvPr/>
        </p:nvCxnSpPr>
        <p:spPr>
          <a:xfrm>
            <a:off x="2667001" y="3119592"/>
            <a:ext cx="24581" cy="9914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ECBCBD08-5735-3CCF-D817-86ECC14E6D6A}"/>
              </a:ext>
            </a:extLst>
          </p:cNvPr>
          <p:cNvCxnSpPr/>
          <p:nvPr/>
        </p:nvCxnSpPr>
        <p:spPr>
          <a:xfrm>
            <a:off x="6629400" y="3429000"/>
            <a:ext cx="0" cy="6795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B89377AB-8F10-9CA8-7B13-C43452C3F040}"/>
              </a:ext>
            </a:extLst>
          </p:cNvPr>
          <p:cNvCxnSpPr>
            <a:stCxn id="9" idx="3"/>
            <a:endCxn id="13" idx="1"/>
          </p:cNvCxnSpPr>
          <p:nvPr/>
        </p:nvCxnSpPr>
        <p:spPr>
          <a:xfrm flipV="1">
            <a:off x="4028768" y="4413355"/>
            <a:ext cx="1025012" cy="245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CB3E1BA6-4C59-F496-9D85-74CE01850305}"/>
              </a:ext>
            </a:extLst>
          </p:cNvPr>
          <p:cNvCxnSpPr>
            <a:cxnSpLocks/>
            <a:endCxn id="15" idx="0"/>
          </p:cNvCxnSpPr>
          <p:nvPr/>
        </p:nvCxnSpPr>
        <p:spPr>
          <a:xfrm>
            <a:off x="4558480" y="4413355"/>
            <a:ext cx="13520" cy="6624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BD9CDE4B-5020-D4C4-E576-AEF85CE57EF3}"/>
              </a:ext>
            </a:extLst>
          </p:cNvPr>
          <p:cNvCxnSpPr>
            <a:cxnSpLocks/>
            <a:stCxn id="15" idx="2"/>
          </p:cNvCxnSpPr>
          <p:nvPr/>
        </p:nvCxnSpPr>
        <p:spPr>
          <a:xfrm flipH="1">
            <a:off x="4558480" y="5685369"/>
            <a:ext cx="13520" cy="3576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7E720535-E545-A2F2-0CB7-A904044E0F85}"/>
              </a:ext>
            </a:extLst>
          </p:cNvPr>
          <p:cNvCxnSpPr/>
          <p:nvPr/>
        </p:nvCxnSpPr>
        <p:spPr>
          <a:xfrm>
            <a:off x="1981200" y="1496956"/>
            <a:ext cx="0" cy="9336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C534F0C4-E878-7F78-D1AF-AD9EB669C2E2}"/>
              </a:ext>
            </a:extLst>
          </p:cNvPr>
          <p:cNvCxnSpPr/>
          <p:nvPr/>
        </p:nvCxnSpPr>
        <p:spPr>
          <a:xfrm>
            <a:off x="7162800" y="1496956"/>
            <a:ext cx="0" cy="9336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1F39FC59-3242-8B67-A3A8-4595CD8AF173}"/>
              </a:ext>
            </a:extLst>
          </p:cNvPr>
          <p:cNvCxnSpPr>
            <a:cxnSpLocks/>
            <a:endCxn id="8" idx="0"/>
          </p:cNvCxnSpPr>
          <p:nvPr/>
        </p:nvCxnSpPr>
        <p:spPr>
          <a:xfrm>
            <a:off x="4523915" y="272936"/>
            <a:ext cx="0" cy="2722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 name="Oval 2">
            <a:extLst>
              <a:ext uri="{FF2B5EF4-FFF2-40B4-BE49-F238E27FC236}">
                <a16:creationId xmlns:a16="http://schemas.microsoft.com/office/drawing/2014/main" id="{DCF66619-732C-B27E-5A63-8B3A9FB6F6D4}"/>
              </a:ext>
            </a:extLst>
          </p:cNvPr>
          <p:cNvSpPr/>
          <p:nvPr/>
        </p:nvSpPr>
        <p:spPr>
          <a:xfrm>
            <a:off x="4069940" y="6059078"/>
            <a:ext cx="97708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END</a:t>
            </a:r>
            <a:endParaRPr lang="en-IN" dirty="0"/>
          </a:p>
        </p:txBody>
      </p:sp>
      <p:sp>
        <p:nvSpPr>
          <p:cNvPr id="2" name="Oval 1">
            <a:extLst>
              <a:ext uri="{FF2B5EF4-FFF2-40B4-BE49-F238E27FC236}">
                <a16:creationId xmlns:a16="http://schemas.microsoft.com/office/drawing/2014/main" id="{A4A082CC-DAF8-9245-8325-81CDE5A67D21}"/>
              </a:ext>
            </a:extLst>
          </p:cNvPr>
          <p:cNvSpPr/>
          <p:nvPr/>
        </p:nvSpPr>
        <p:spPr>
          <a:xfrm>
            <a:off x="4334795" y="-102298"/>
            <a:ext cx="380997" cy="381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1</a:t>
            </a:r>
            <a:endParaRPr lang="en-IN" dirty="0"/>
          </a:p>
        </p:txBody>
      </p:sp>
    </p:spTree>
    <p:extLst>
      <p:ext uri="{BB962C8B-B14F-4D97-AF65-F5344CB8AC3E}">
        <p14:creationId xmlns:p14="http://schemas.microsoft.com/office/powerpoint/2010/main" val="4072848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7B9413-41BA-20BF-2FFB-F170179A288F}"/>
              </a:ext>
            </a:extLst>
          </p:cNvPr>
          <p:cNvSpPr txBox="1"/>
          <p:nvPr/>
        </p:nvSpPr>
        <p:spPr>
          <a:xfrm>
            <a:off x="762000" y="757084"/>
            <a:ext cx="1905000" cy="369332"/>
          </a:xfrm>
          <a:prstGeom prst="rect">
            <a:avLst/>
          </a:prstGeom>
          <a:noFill/>
        </p:spPr>
        <p:txBody>
          <a:bodyPr wrap="square" rtlCol="0">
            <a:spAutoFit/>
          </a:bodyPr>
          <a:lstStyle/>
          <a:p>
            <a:r>
              <a:rPr lang="en-IN" b="1" u="sng" dirty="0"/>
              <a:t>ADMIN FLOW:</a:t>
            </a:r>
          </a:p>
        </p:txBody>
      </p:sp>
      <p:sp>
        <p:nvSpPr>
          <p:cNvPr id="10" name="Rectangle 9">
            <a:extLst>
              <a:ext uri="{FF2B5EF4-FFF2-40B4-BE49-F238E27FC236}">
                <a16:creationId xmlns:a16="http://schemas.microsoft.com/office/drawing/2014/main" id="{18DC2822-00C0-59FB-268D-580E1B0BB532}"/>
              </a:ext>
            </a:extLst>
          </p:cNvPr>
          <p:cNvSpPr/>
          <p:nvPr/>
        </p:nvSpPr>
        <p:spPr>
          <a:xfrm>
            <a:off x="3624531" y="378078"/>
            <a:ext cx="1447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Admin Login</a:t>
            </a:r>
            <a:endParaRPr lang="en-IN" dirty="0"/>
          </a:p>
        </p:txBody>
      </p:sp>
      <p:sp>
        <p:nvSpPr>
          <p:cNvPr id="12" name="Rectangle 11">
            <a:extLst>
              <a:ext uri="{FF2B5EF4-FFF2-40B4-BE49-F238E27FC236}">
                <a16:creationId xmlns:a16="http://schemas.microsoft.com/office/drawing/2014/main" id="{EEE06E71-863E-D2C8-3CF9-BA5FE4FC1F7C}"/>
              </a:ext>
            </a:extLst>
          </p:cNvPr>
          <p:cNvSpPr/>
          <p:nvPr/>
        </p:nvSpPr>
        <p:spPr>
          <a:xfrm>
            <a:off x="4735386" y="2504386"/>
            <a:ext cx="16002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Order history</a:t>
            </a:r>
          </a:p>
        </p:txBody>
      </p:sp>
      <p:sp>
        <p:nvSpPr>
          <p:cNvPr id="13" name="Rectangle 12">
            <a:extLst>
              <a:ext uri="{FF2B5EF4-FFF2-40B4-BE49-F238E27FC236}">
                <a16:creationId xmlns:a16="http://schemas.microsoft.com/office/drawing/2014/main" id="{DC7C0A31-F313-3E4C-3FF7-9469DA393F55}"/>
              </a:ext>
            </a:extLst>
          </p:cNvPr>
          <p:cNvSpPr/>
          <p:nvPr/>
        </p:nvSpPr>
        <p:spPr>
          <a:xfrm>
            <a:off x="777362" y="2476500"/>
            <a:ext cx="15240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Stock details </a:t>
            </a:r>
          </a:p>
        </p:txBody>
      </p:sp>
      <p:sp>
        <p:nvSpPr>
          <p:cNvPr id="14" name="Rectangle 13">
            <a:extLst>
              <a:ext uri="{FF2B5EF4-FFF2-40B4-BE49-F238E27FC236}">
                <a16:creationId xmlns:a16="http://schemas.microsoft.com/office/drawing/2014/main" id="{45B47877-C6F4-1789-D7BB-8A184C53315F}"/>
              </a:ext>
            </a:extLst>
          </p:cNvPr>
          <p:cNvSpPr/>
          <p:nvPr/>
        </p:nvSpPr>
        <p:spPr>
          <a:xfrm>
            <a:off x="3505200" y="1786935"/>
            <a:ext cx="1713271"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u="sng" dirty="0"/>
              <a:t>View Options</a:t>
            </a:r>
          </a:p>
        </p:txBody>
      </p:sp>
      <p:sp>
        <p:nvSpPr>
          <p:cNvPr id="16" name="Rectangle 15">
            <a:extLst>
              <a:ext uri="{FF2B5EF4-FFF2-40B4-BE49-F238E27FC236}">
                <a16:creationId xmlns:a16="http://schemas.microsoft.com/office/drawing/2014/main" id="{9DB266AA-75EA-8684-A615-2B226D740A63}"/>
              </a:ext>
            </a:extLst>
          </p:cNvPr>
          <p:cNvSpPr/>
          <p:nvPr/>
        </p:nvSpPr>
        <p:spPr>
          <a:xfrm>
            <a:off x="217232" y="3625511"/>
            <a:ext cx="1804220" cy="10091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u="sng" dirty="0"/>
              <a:t>Product Stock</a:t>
            </a:r>
          </a:p>
          <a:p>
            <a:pPr algn="ctr"/>
            <a:r>
              <a:rPr lang="en-IN" dirty="0"/>
              <a:t>Add product       Update product </a:t>
            </a:r>
          </a:p>
        </p:txBody>
      </p:sp>
      <p:sp>
        <p:nvSpPr>
          <p:cNvPr id="17" name="Rectangle 16">
            <a:extLst>
              <a:ext uri="{FF2B5EF4-FFF2-40B4-BE49-F238E27FC236}">
                <a16:creationId xmlns:a16="http://schemas.microsoft.com/office/drawing/2014/main" id="{91E6C8B3-4151-D734-BB37-7AC79E17E2AC}"/>
              </a:ext>
            </a:extLst>
          </p:cNvPr>
          <p:cNvSpPr/>
          <p:nvPr/>
        </p:nvSpPr>
        <p:spPr>
          <a:xfrm>
            <a:off x="7315200" y="2476500"/>
            <a:ext cx="17526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Current orders </a:t>
            </a:r>
          </a:p>
        </p:txBody>
      </p:sp>
      <p:sp>
        <p:nvSpPr>
          <p:cNvPr id="18" name="Rectangle 17">
            <a:extLst>
              <a:ext uri="{FF2B5EF4-FFF2-40B4-BE49-F238E27FC236}">
                <a16:creationId xmlns:a16="http://schemas.microsoft.com/office/drawing/2014/main" id="{9436CE39-CD94-10EC-E6E7-0F5F5CD177D6}"/>
              </a:ext>
            </a:extLst>
          </p:cNvPr>
          <p:cNvSpPr/>
          <p:nvPr/>
        </p:nvSpPr>
        <p:spPr>
          <a:xfrm>
            <a:off x="2619955" y="2494046"/>
            <a:ext cx="12954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Feedback </a:t>
            </a:r>
            <a:endParaRPr lang="en-US" dirty="0"/>
          </a:p>
        </p:txBody>
      </p:sp>
      <p:sp>
        <p:nvSpPr>
          <p:cNvPr id="19" name="Rectangle 18">
            <a:extLst>
              <a:ext uri="{FF2B5EF4-FFF2-40B4-BE49-F238E27FC236}">
                <a16:creationId xmlns:a16="http://schemas.microsoft.com/office/drawing/2014/main" id="{D3D88BFB-3FB5-CAA2-1571-391BE3B3519C}"/>
              </a:ext>
            </a:extLst>
          </p:cNvPr>
          <p:cNvSpPr/>
          <p:nvPr/>
        </p:nvSpPr>
        <p:spPr>
          <a:xfrm>
            <a:off x="3628509" y="1052478"/>
            <a:ext cx="1447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 Admin Dashboard</a:t>
            </a:r>
          </a:p>
        </p:txBody>
      </p:sp>
      <p:sp>
        <p:nvSpPr>
          <p:cNvPr id="23" name="Rectangle 22">
            <a:extLst>
              <a:ext uri="{FF2B5EF4-FFF2-40B4-BE49-F238E27FC236}">
                <a16:creationId xmlns:a16="http://schemas.microsoft.com/office/drawing/2014/main" id="{3B54CCCA-82BC-3CF8-EAAA-098BD838F2A1}"/>
              </a:ext>
            </a:extLst>
          </p:cNvPr>
          <p:cNvSpPr/>
          <p:nvPr/>
        </p:nvSpPr>
        <p:spPr>
          <a:xfrm>
            <a:off x="5607332" y="5481040"/>
            <a:ext cx="3590618"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Update Order Status  </a:t>
            </a:r>
          </a:p>
          <a:p>
            <a:pPr algn="ctr"/>
            <a:r>
              <a:rPr lang="en-US" dirty="0"/>
              <a:t>(accepted/dispatched/delivered)</a:t>
            </a:r>
            <a:endParaRPr lang="en-IN" dirty="0"/>
          </a:p>
        </p:txBody>
      </p:sp>
      <p:sp>
        <p:nvSpPr>
          <p:cNvPr id="24" name="Rectangle 23">
            <a:extLst>
              <a:ext uri="{FF2B5EF4-FFF2-40B4-BE49-F238E27FC236}">
                <a16:creationId xmlns:a16="http://schemas.microsoft.com/office/drawing/2014/main" id="{6FD0FCA1-95DD-615F-462E-B9C60AF17A2F}"/>
              </a:ext>
            </a:extLst>
          </p:cNvPr>
          <p:cNvSpPr/>
          <p:nvPr/>
        </p:nvSpPr>
        <p:spPr>
          <a:xfrm>
            <a:off x="4536223" y="3449344"/>
            <a:ext cx="1943100" cy="9276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 View Order History</a:t>
            </a:r>
          </a:p>
        </p:txBody>
      </p:sp>
      <p:sp>
        <p:nvSpPr>
          <p:cNvPr id="26" name="Rectangle 25">
            <a:extLst>
              <a:ext uri="{FF2B5EF4-FFF2-40B4-BE49-F238E27FC236}">
                <a16:creationId xmlns:a16="http://schemas.microsoft.com/office/drawing/2014/main" id="{8D049818-151C-EA27-D419-C8798C042B20}"/>
              </a:ext>
            </a:extLst>
          </p:cNvPr>
          <p:cNvSpPr/>
          <p:nvPr/>
        </p:nvSpPr>
        <p:spPr>
          <a:xfrm>
            <a:off x="7549945" y="4531222"/>
            <a:ext cx="128311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Accept Order</a:t>
            </a:r>
          </a:p>
        </p:txBody>
      </p:sp>
      <p:sp>
        <p:nvSpPr>
          <p:cNvPr id="27" name="Rectangle 26">
            <a:extLst>
              <a:ext uri="{FF2B5EF4-FFF2-40B4-BE49-F238E27FC236}">
                <a16:creationId xmlns:a16="http://schemas.microsoft.com/office/drawing/2014/main" id="{59FCCC5E-E8A8-BA3B-1F53-DD076E9ECA2F}"/>
              </a:ext>
            </a:extLst>
          </p:cNvPr>
          <p:cNvSpPr/>
          <p:nvPr/>
        </p:nvSpPr>
        <p:spPr>
          <a:xfrm>
            <a:off x="6623188" y="3355613"/>
            <a:ext cx="2494888" cy="9740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View Current Orders    (date, user id, order </a:t>
            </a:r>
            <a:r>
              <a:rPr lang="en-US" dirty="0" err="1"/>
              <a:t>id,order</a:t>
            </a:r>
            <a:r>
              <a:rPr lang="en-US" dirty="0"/>
              <a:t> details)</a:t>
            </a:r>
            <a:endParaRPr lang="en-IN" dirty="0"/>
          </a:p>
        </p:txBody>
      </p:sp>
      <p:sp>
        <p:nvSpPr>
          <p:cNvPr id="32" name="Rectangle 31">
            <a:extLst>
              <a:ext uri="{FF2B5EF4-FFF2-40B4-BE49-F238E27FC236}">
                <a16:creationId xmlns:a16="http://schemas.microsoft.com/office/drawing/2014/main" id="{9C9E08F2-F16B-9C22-5EC1-0F6ED6618773}"/>
              </a:ext>
            </a:extLst>
          </p:cNvPr>
          <p:cNvSpPr/>
          <p:nvPr/>
        </p:nvSpPr>
        <p:spPr>
          <a:xfrm>
            <a:off x="2179995" y="3603583"/>
            <a:ext cx="2062316" cy="9276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 View Customer Feedback</a:t>
            </a:r>
          </a:p>
        </p:txBody>
      </p:sp>
      <p:cxnSp>
        <p:nvCxnSpPr>
          <p:cNvPr id="34" name="Straight Arrow Connector 33">
            <a:extLst>
              <a:ext uri="{FF2B5EF4-FFF2-40B4-BE49-F238E27FC236}">
                <a16:creationId xmlns:a16="http://schemas.microsoft.com/office/drawing/2014/main" id="{A9BC5B43-6758-6C91-CFA1-291B3419F18D}"/>
              </a:ext>
            </a:extLst>
          </p:cNvPr>
          <p:cNvCxnSpPr>
            <a:stCxn id="10" idx="2"/>
            <a:endCxn id="19" idx="0"/>
          </p:cNvCxnSpPr>
          <p:nvPr/>
        </p:nvCxnSpPr>
        <p:spPr>
          <a:xfrm>
            <a:off x="4348431" y="987678"/>
            <a:ext cx="3978" cy="6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0AF2D090-362F-049D-16CC-635299B7EC33}"/>
              </a:ext>
            </a:extLst>
          </p:cNvPr>
          <p:cNvCxnSpPr/>
          <p:nvPr/>
        </p:nvCxnSpPr>
        <p:spPr>
          <a:xfrm>
            <a:off x="4361836" y="1614328"/>
            <a:ext cx="0" cy="163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FAC38C29-D05C-66DD-502A-2D3B271BDAEF}"/>
              </a:ext>
            </a:extLst>
          </p:cNvPr>
          <p:cNvCxnSpPr>
            <a:cxnSpLocks/>
          </p:cNvCxnSpPr>
          <p:nvPr/>
        </p:nvCxnSpPr>
        <p:spPr>
          <a:xfrm>
            <a:off x="5586907" y="2082248"/>
            <a:ext cx="0" cy="405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F1CECBA5-1B93-08E3-DFB2-52729B64D3EA}"/>
              </a:ext>
            </a:extLst>
          </p:cNvPr>
          <p:cNvCxnSpPr>
            <a:cxnSpLocks/>
            <a:stCxn id="14" idx="1"/>
          </p:cNvCxnSpPr>
          <p:nvPr/>
        </p:nvCxnSpPr>
        <p:spPr>
          <a:xfrm flipH="1">
            <a:off x="1371600" y="2091735"/>
            <a:ext cx="2133600" cy="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F389AA05-DE73-0346-3A60-74168F63155A}"/>
              </a:ext>
            </a:extLst>
          </p:cNvPr>
          <p:cNvCxnSpPr>
            <a:cxnSpLocks/>
          </p:cNvCxnSpPr>
          <p:nvPr/>
        </p:nvCxnSpPr>
        <p:spPr>
          <a:xfrm>
            <a:off x="3211153" y="2082248"/>
            <a:ext cx="0" cy="4221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9226B6CF-1A89-4135-C5EB-403F77844056}"/>
              </a:ext>
            </a:extLst>
          </p:cNvPr>
          <p:cNvCxnSpPr>
            <a:cxnSpLocks/>
          </p:cNvCxnSpPr>
          <p:nvPr/>
        </p:nvCxnSpPr>
        <p:spPr>
          <a:xfrm>
            <a:off x="1371600" y="2082248"/>
            <a:ext cx="0" cy="3666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8F122C19-0719-6AAE-F84D-269FB16895CF}"/>
              </a:ext>
            </a:extLst>
          </p:cNvPr>
          <p:cNvCxnSpPr>
            <a:cxnSpLocks/>
            <a:stCxn id="14" idx="3"/>
          </p:cNvCxnSpPr>
          <p:nvPr/>
        </p:nvCxnSpPr>
        <p:spPr>
          <a:xfrm>
            <a:off x="5218471" y="2091735"/>
            <a:ext cx="3011129" cy="0"/>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31F77985-5E49-AEF7-A4AC-E466EC1D1214}"/>
              </a:ext>
            </a:extLst>
          </p:cNvPr>
          <p:cNvCxnSpPr>
            <a:cxnSpLocks/>
          </p:cNvCxnSpPr>
          <p:nvPr/>
        </p:nvCxnSpPr>
        <p:spPr>
          <a:xfrm>
            <a:off x="8229600" y="2082248"/>
            <a:ext cx="0" cy="395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7E7E813D-8890-9285-F37E-D471D3AFF10D}"/>
              </a:ext>
            </a:extLst>
          </p:cNvPr>
          <p:cNvCxnSpPr>
            <a:cxnSpLocks/>
            <a:stCxn id="13" idx="2"/>
          </p:cNvCxnSpPr>
          <p:nvPr/>
        </p:nvCxnSpPr>
        <p:spPr>
          <a:xfrm>
            <a:off x="1539362" y="3086100"/>
            <a:ext cx="0" cy="310552"/>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79853504-CBB6-27DA-1710-BDCEFAA6777C}"/>
              </a:ext>
            </a:extLst>
          </p:cNvPr>
          <p:cNvCxnSpPr>
            <a:cxnSpLocks/>
          </p:cNvCxnSpPr>
          <p:nvPr/>
        </p:nvCxnSpPr>
        <p:spPr>
          <a:xfrm>
            <a:off x="1539362" y="3288063"/>
            <a:ext cx="0" cy="3155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3ECF54FD-2CDF-3A64-65FF-DC41281C24D5}"/>
              </a:ext>
            </a:extLst>
          </p:cNvPr>
          <p:cNvCxnSpPr>
            <a:cxnSpLocks/>
          </p:cNvCxnSpPr>
          <p:nvPr/>
        </p:nvCxnSpPr>
        <p:spPr>
          <a:xfrm>
            <a:off x="3211153" y="3113986"/>
            <a:ext cx="0" cy="4613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1E84DABD-7B4A-AF7B-4C3E-290484970D25}"/>
              </a:ext>
            </a:extLst>
          </p:cNvPr>
          <p:cNvCxnSpPr>
            <a:cxnSpLocks/>
          </p:cNvCxnSpPr>
          <p:nvPr/>
        </p:nvCxnSpPr>
        <p:spPr>
          <a:xfrm>
            <a:off x="5586907" y="3100987"/>
            <a:ext cx="0" cy="3448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44B65B60-DFBF-A0BF-6C7E-5AEE2DBB873E}"/>
              </a:ext>
            </a:extLst>
          </p:cNvPr>
          <p:cNvCxnSpPr>
            <a:cxnSpLocks/>
          </p:cNvCxnSpPr>
          <p:nvPr/>
        </p:nvCxnSpPr>
        <p:spPr>
          <a:xfrm>
            <a:off x="8166754" y="3086100"/>
            <a:ext cx="0" cy="2785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411899A3-259A-0BB5-BE09-46BEACD299F5}"/>
              </a:ext>
            </a:extLst>
          </p:cNvPr>
          <p:cNvCxnSpPr>
            <a:cxnSpLocks/>
          </p:cNvCxnSpPr>
          <p:nvPr/>
        </p:nvCxnSpPr>
        <p:spPr>
          <a:xfrm>
            <a:off x="8210721" y="4300607"/>
            <a:ext cx="0" cy="2306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a:extLst>
              <a:ext uri="{FF2B5EF4-FFF2-40B4-BE49-F238E27FC236}">
                <a16:creationId xmlns:a16="http://schemas.microsoft.com/office/drawing/2014/main" id="{8E2B2430-3449-99C5-5717-040E3DB2C656}"/>
              </a:ext>
            </a:extLst>
          </p:cNvPr>
          <p:cNvCxnSpPr>
            <a:cxnSpLocks/>
          </p:cNvCxnSpPr>
          <p:nvPr/>
        </p:nvCxnSpPr>
        <p:spPr>
          <a:xfrm>
            <a:off x="8229600" y="5140822"/>
            <a:ext cx="0" cy="3402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9F31DA58-1FE7-433D-E7C4-E01027EA9332}"/>
              </a:ext>
            </a:extLst>
          </p:cNvPr>
          <p:cNvCxnSpPr>
            <a:cxnSpLocks/>
          </p:cNvCxnSpPr>
          <p:nvPr/>
        </p:nvCxnSpPr>
        <p:spPr>
          <a:xfrm>
            <a:off x="1447800" y="4634710"/>
            <a:ext cx="0" cy="1121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29733CF-0C6E-5619-E170-F07731DED8E9}"/>
              </a:ext>
            </a:extLst>
          </p:cNvPr>
          <p:cNvCxnSpPr>
            <a:cxnSpLocks/>
          </p:cNvCxnSpPr>
          <p:nvPr/>
        </p:nvCxnSpPr>
        <p:spPr>
          <a:xfrm>
            <a:off x="3283063" y="4531222"/>
            <a:ext cx="0" cy="12254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A4E333-BBC4-2E47-AC9B-4273C58C99AF}"/>
              </a:ext>
            </a:extLst>
          </p:cNvPr>
          <p:cNvCxnSpPr>
            <a:cxnSpLocks/>
          </p:cNvCxnSpPr>
          <p:nvPr/>
        </p:nvCxnSpPr>
        <p:spPr>
          <a:xfrm>
            <a:off x="5072331" y="4376983"/>
            <a:ext cx="0" cy="13796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C473E16-E713-867B-50BA-B316390C8676}"/>
              </a:ext>
            </a:extLst>
          </p:cNvPr>
          <p:cNvCxnSpPr>
            <a:cxnSpLocks/>
          </p:cNvCxnSpPr>
          <p:nvPr/>
        </p:nvCxnSpPr>
        <p:spPr>
          <a:xfrm flipH="1">
            <a:off x="1447800" y="5756635"/>
            <a:ext cx="41595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90EBBBCC-841F-9D40-8E87-35898CE985F0}"/>
              </a:ext>
            </a:extLst>
          </p:cNvPr>
          <p:cNvCxnSpPr>
            <a:cxnSpLocks/>
          </p:cNvCxnSpPr>
          <p:nvPr/>
        </p:nvCxnSpPr>
        <p:spPr>
          <a:xfrm>
            <a:off x="3283062" y="5756635"/>
            <a:ext cx="1" cy="3888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2401BB7-65FE-2C6E-304E-D51DC9E68480}"/>
              </a:ext>
            </a:extLst>
          </p:cNvPr>
          <p:cNvCxnSpPr>
            <a:cxnSpLocks/>
          </p:cNvCxnSpPr>
          <p:nvPr/>
        </p:nvCxnSpPr>
        <p:spPr>
          <a:xfrm>
            <a:off x="4336230" y="165045"/>
            <a:ext cx="0" cy="2130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Oval 77">
            <a:extLst>
              <a:ext uri="{FF2B5EF4-FFF2-40B4-BE49-F238E27FC236}">
                <a16:creationId xmlns:a16="http://schemas.microsoft.com/office/drawing/2014/main" id="{6259989A-F8D4-AF56-F5C9-F32D69802C86}"/>
              </a:ext>
            </a:extLst>
          </p:cNvPr>
          <p:cNvSpPr/>
          <p:nvPr/>
        </p:nvSpPr>
        <p:spPr>
          <a:xfrm>
            <a:off x="2794522" y="6145514"/>
            <a:ext cx="97708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END</a:t>
            </a:r>
            <a:endParaRPr lang="en-IN" dirty="0"/>
          </a:p>
        </p:txBody>
      </p:sp>
      <p:sp>
        <p:nvSpPr>
          <p:cNvPr id="6" name="Oval 5">
            <a:extLst>
              <a:ext uri="{FF2B5EF4-FFF2-40B4-BE49-F238E27FC236}">
                <a16:creationId xmlns:a16="http://schemas.microsoft.com/office/drawing/2014/main" id="{CC2CA5A4-0048-DCE4-0A83-75575FFA17A6}"/>
              </a:ext>
            </a:extLst>
          </p:cNvPr>
          <p:cNvSpPr/>
          <p:nvPr/>
        </p:nvSpPr>
        <p:spPr>
          <a:xfrm>
            <a:off x="4145731" y="-101939"/>
            <a:ext cx="380997" cy="381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2</a:t>
            </a:r>
            <a:endParaRPr lang="en-IN" dirty="0"/>
          </a:p>
        </p:txBody>
      </p:sp>
    </p:spTree>
    <p:extLst>
      <p:ext uri="{BB962C8B-B14F-4D97-AF65-F5344CB8AC3E}">
        <p14:creationId xmlns:p14="http://schemas.microsoft.com/office/powerpoint/2010/main" val="1388345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24D2C7-7D51-9072-A3B0-5F538BCD5F57}"/>
              </a:ext>
            </a:extLst>
          </p:cNvPr>
          <p:cNvSpPr txBox="1"/>
          <p:nvPr/>
        </p:nvSpPr>
        <p:spPr>
          <a:xfrm>
            <a:off x="3352800" y="363713"/>
            <a:ext cx="3048000" cy="553998"/>
          </a:xfrm>
          <a:prstGeom prst="rect">
            <a:avLst/>
          </a:prstGeom>
          <a:noFill/>
        </p:spPr>
        <p:txBody>
          <a:bodyPr wrap="square" rtlCol="0">
            <a:spAutoFit/>
          </a:bodyPr>
          <a:lstStyle/>
          <a:p>
            <a:r>
              <a:rPr lang="en-IN" sz="3000" b="1" dirty="0"/>
              <a:t>Class Diagram </a:t>
            </a:r>
          </a:p>
        </p:txBody>
      </p:sp>
      <p:sp>
        <p:nvSpPr>
          <p:cNvPr id="6" name="Rectangle 5">
            <a:extLst>
              <a:ext uri="{FF2B5EF4-FFF2-40B4-BE49-F238E27FC236}">
                <a16:creationId xmlns:a16="http://schemas.microsoft.com/office/drawing/2014/main" id="{703E87E8-2636-64DA-D7DF-1753730E8C8E}"/>
              </a:ext>
            </a:extLst>
          </p:cNvPr>
          <p:cNvSpPr/>
          <p:nvPr/>
        </p:nvSpPr>
        <p:spPr>
          <a:xfrm>
            <a:off x="1066800" y="1518166"/>
            <a:ext cx="2514600" cy="38216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b="1" dirty="0">
                <a:solidFill>
                  <a:schemeClr val="dk1"/>
                </a:solidFill>
                <a:latin typeface="+mn-lt"/>
                <a:ea typeface="+mn-ea"/>
                <a:cs typeface="+mn-cs"/>
              </a:rPr>
              <a:t>User</a:t>
            </a:r>
          </a:p>
          <a:p>
            <a:r>
              <a:rPr lang="en-IN" dirty="0" err="1">
                <a:solidFill>
                  <a:schemeClr val="dk1"/>
                </a:solidFill>
                <a:latin typeface="+mn-lt"/>
                <a:ea typeface="+mn-ea"/>
                <a:cs typeface="+mn-cs"/>
              </a:rPr>
              <a:t>userId:int</a:t>
            </a:r>
            <a:endParaRPr lang="en-IN" dirty="0">
              <a:solidFill>
                <a:schemeClr val="dk1"/>
              </a:solidFill>
              <a:latin typeface="+mn-lt"/>
              <a:ea typeface="+mn-ea"/>
              <a:cs typeface="+mn-cs"/>
            </a:endParaRPr>
          </a:p>
          <a:p>
            <a:r>
              <a:rPr lang="en-IN" dirty="0" err="1">
                <a:solidFill>
                  <a:schemeClr val="dk1"/>
                </a:solidFill>
                <a:latin typeface="+mn-lt"/>
                <a:ea typeface="+mn-ea"/>
                <a:cs typeface="+mn-cs"/>
              </a:rPr>
              <a:t>Name:string</a:t>
            </a:r>
            <a:endParaRPr lang="en-IN" dirty="0">
              <a:solidFill>
                <a:schemeClr val="dk1"/>
              </a:solidFill>
              <a:latin typeface="+mn-lt"/>
              <a:ea typeface="+mn-ea"/>
              <a:cs typeface="+mn-cs"/>
            </a:endParaRPr>
          </a:p>
          <a:p>
            <a:r>
              <a:rPr lang="en-IN" dirty="0" err="1">
                <a:solidFill>
                  <a:schemeClr val="dk1"/>
                </a:solidFill>
                <a:latin typeface="+mn-lt"/>
                <a:ea typeface="+mn-ea"/>
                <a:cs typeface="+mn-cs"/>
              </a:rPr>
              <a:t>Email:string</a:t>
            </a:r>
            <a:endParaRPr lang="en-IN" dirty="0">
              <a:solidFill>
                <a:schemeClr val="dk1"/>
              </a:solidFill>
              <a:latin typeface="+mn-lt"/>
              <a:ea typeface="+mn-ea"/>
              <a:cs typeface="+mn-cs"/>
            </a:endParaRPr>
          </a:p>
          <a:p>
            <a:r>
              <a:rPr lang="en-IN" dirty="0" err="1">
                <a:solidFill>
                  <a:schemeClr val="dk1"/>
                </a:solidFill>
                <a:latin typeface="+mn-lt"/>
                <a:ea typeface="+mn-ea"/>
                <a:cs typeface="+mn-cs"/>
              </a:rPr>
              <a:t>Password:string</a:t>
            </a:r>
            <a:endParaRPr lang="en-IN" dirty="0">
              <a:solidFill>
                <a:schemeClr val="dk1"/>
              </a:solidFill>
              <a:latin typeface="+mn-lt"/>
              <a:ea typeface="+mn-ea"/>
              <a:cs typeface="+mn-cs"/>
            </a:endParaRPr>
          </a:p>
          <a:p>
            <a:endParaRPr lang="en-IN" dirty="0">
              <a:solidFill>
                <a:schemeClr val="dk1"/>
              </a:solidFill>
              <a:latin typeface="+mn-lt"/>
              <a:ea typeface="+mn-ea"/>
              <a:cs typeface="+mn-cs"/>
            </a:endParaRPr>
          </a:p>
          <a:p>
            <a:r>
              <a:rPr lang="en-IN" dirty="0" err="1">
                <a:solidFill>
                  <a:schemeClr val="dk1"/>
                </a:solidFill>
                <a:latin typeface="+mn-lt"/>
                <a:ea typeface="+mn-ea"/>
                <a:cs typeface="+mn-cs"/>
              </a:rPr>
              <a:t>Login:void</a:t>
            </a:r>
            <a:r>
              <a:rPr lang="en-IN" dirty="0">
                <a:solidFill>
                  <a:schemeClr val="dk1"/>
                </a:solidFill>
                <a:latin typeface="+mn-lt"/>
                <a:ea typeface="+mn-ea"/>
                <a:cs typeface="+mn-cs"/>
              </a:rPr>
              <a:t>()</a:t>
            </a:r>
          </a:p>
          <a:p>
            <a:r>
              <a:rPr lang="en-IN" dirty="0" err="1">
                <a:solidFill>
                  <a:schemeClr val="dk1"/>
                </a:solidFill>
                <a:latin typeface="+mn-lt"/>
                <a:ea typeface="+mn-ea"/>
                <a:cs typeface="+mn-cs"/>
              </a:rPr>
              <a:t>signUp:void</a:t>
            </a:r>
            <a:r>
              <a:rPr lang="en-IN" dirty="0">
                <a:solidFill>
                  <a:schemeClr val="dk1"/>
                </a:solidFill>
                <a:latin typeface="+mn-lt"/>
                <a:ea typeface="+mn-ea"/>
                <a:cs typeface="+mn-cs"/>
              </a:rPr>
              <a:t>()</a:t>
            </a:r>
          </a:p>
          <a:p>
            <a:r>
              <a:rPr lang="en-IN" dirty="0" err="1">
                <a:solidFill>
                  <a:schemeClr val="dk1"/>
                </a:solidFill>
                <a:latin typeface="+mn-lt"/>
                <a:ea typeface="+mn-ea"/>
                <a:cs typeface="+mn-cs"/>
              </a:rPr>
              <a:t>viewProducts:void</a:t>
            </a:r>
            <a:r>
              <a:rPr lang="en-IN" dirty="0">
                <a:solidFill>
                  <a:schemeClr val="dk1"/>
                </a:solidFill>
                <a:latin typeface="+mn-lt"/>
                <a:ea typeface="+mn-ea"/>
                <a:cs typeface="+mn-cs"/>
              </a:rPr>
              <a:t>()</a:t>
            </a:r>
          </a:p>
          <a:p>
            <a:r>
              <a:rPr lang="en-IN" dirty="0" err="1">
                <a:solidFill>
                  <a:schemeClr val="dk1"/>
                </a:solidFill>
                <a:latin typeface="+mn-lt"/>
                <a:ea typeface="+mn-ea"/>
                <a:cs typeface="+mn-cs"/>
              </a:rPr>
              <a:t>placeOrder:void</a:t>
            </a:r>
            <a:r>
              <a:rPr lang="en-IN" dirty="0">
                <a:solidFill>
                  <a:schemeClr val="dk1"/>
                </a:solidFill>
                <a:latin typeface="+mn-lt"/>
                <a:ea typeface="+mn-ea"/>
                <a:cs typeface="+mn-cs"/>
              </a:rPr>
              <a:t>()</a:t>
            </a:r>
          </a:p>
          <a:p>
            <a:r>
              <a:rPr lang="en-IN" dirty="0" err="1">
                <a:solidFill>
                  <a:schemeClr val="dk1"/>
                </a:solidFill>
                <a:latin typeface="+mn-lt"/>
                <a:ea typeface="+mn-ea"/>
                <a:cs typeface="+mn-cs"/>
              </a:rPr>
              <a:t>viewOrderHistory:void</a:t>
            </a:r>
            <a:r>
              <a:rPr lang="en-IN" dirty="0">
                <a:solidFill>
                  <a:schemeClr val="dk1"/>
                </a:solidFill>
                <a:latin typeface="+mn-lt"/>
                <a:ea typeface="+mn-ea"/>
                <a:cs typeface="+mn-cs"/>
              </a:rPr>
              <a:t>()</a:t>
            </a:r>
          </a:p>
          <a:p>
            <a:r>
              <a:rPr lang="en-IN" dirty="0" err="1">
                <a:solidFill>
                  <a:schemeClr val="dk1"/>
                </a:solidFill>
                <a:latin typeface="+mn-lt"/>
                <a:ea typeface="+mn-ea"/>
                <a:cs typeface="+mn-cs"/>
              </a:rPr>
              <a:t>giveFeedback:void</a:t>
            </a:r>
            <a:r>
              <a:rPr lang="en-IN" dirty="0">
                <a:solidFill>
                  <a:schemeClr val="dk1"/>
                </a:solidFill>
                <a:latin typeface="+mn-lt"/>
                <a:ea typeface="+mn-ea"/>
                <a:cs typeface="+mn-cs"/>
              </a:rPr>
              <a:t>()</a:t>
            </a:r>
          </a:p>
          <a:p>
            <a:br>
              <a:rPr lang="en-IN" dirty="0"/>
            </a:br>
            <a:endParaRPr lang="en-IN" b="1" dirty="0">
              <a:solidFill>
                <a:schemeClr val="dk1"/>
              </a:solidFill>
              <a:latin typeface="+mn-lt"/>
              <a:ea typeface="+mn-ea"/>
              <a:cs typeface="+mn-cs"/>
            </a:endParaRPr>
          </a:p>
        </p:txBody>
      </p:sp>
      <p:sp>
        <p:nvSpPr>
          <p:cNvPr id="7" name="Rectangle 6">
            <a:extLst>
              <a:ext uri="{FF2B5EF4-FFF2-40B4-BE49-F238E27FC236}">
                <a16:creationId xmlns:a16="http://schemas.microsoft.com/office/drawing/2014/main" id="{D4011208-DA06-281C-DFC1-8939BDFA1269}"/>
              </a:ext>
            </a:extLst>
          </p:cNvPr>
          <p:cNvSpPr/>
          <p:nvPr/>
        </p:nvSpPr>
        <p:spPr>
          <a:xfrm>
            <a:off x="4419600" y="1518166"/>
            <a:ext cx="2667000" cy="411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b="1" dirty="0">
                <a:solidFill>
                  <a:schemeClr val="dk1"/>
                </a:solidFill>
                <a:latin typeface="+mn-lt"/>
                <a:ea typeface="+mn-ea"/>
                <a:cs typeface="+mn-cs"/>
              </a:rPr>
              <a:t>Admin</a:t>
            </a:r>
            <a:endParaRPr lang="en-IN" dirty="0">
              <a:solidFill>
                <a:schemeClr val="dk1"/>
              </a:solidFill>
              <a:latin typeface="+mn-lt"/>
              <a:ea typeface="+mn-ea"/>
              <a:cs typeface="+mn-cs"/>
            </a:endParaRPr>
          </a:p>
          <a:p>
            <a:r>
              <a:rPr lang="en-IN" dirty="0" err="1">
                <a:solidFill>
                  <a:schemeClr val="dk1"/>
                </a:solidFill>
                <a:latin typeface="+mn-lt"/>
                <a:ea typeface="+mn-ea"/>
                <a:cs typeface="+mn-cs"/>
              </a:rPr>
              <a:t>adminId:int</a:t>
            </a:r>
            <a:endParaRPr lang="en-IN" dirty="0">
              <a:solidFill>
                <a:schemeClr val="dk1"/>
              </a:solidFill>
              <a:latin typeface="+mn-lt"/>
              <a:ea typeface="+mn-ea"/>
              <a:cs typeface="+mn-cs"/>
            </a:endParaRPr>
          </a:p>
          <a:p>
            <a:r>
              <a:rPr lang="en-IN" dirty="0" err="1">
                <a:solidFill>
                  <a:schemeClr val="dk1"/>
                </a:solidFill>
                <a:latin typeface="+mn-lt"/>
                <a:ea typeface="+mn-ea"/>
                <a:cs typeface="+mn-cs"/>
              </a:rPr>
              <a:t>Username:string</a:t>
            </a:r>
            <a:endParaRPr lang="en-IN" dirty="0">
              <a:solidFill>
                <a:schemeClr val="dk1"/>
              </a:solidFill>
              <a:latin typeface="+mn-lt"/>
              <a:ea typeface="+mn-ea"/>
              <a:cs typeface="+mn-cs"/>
            </a:endParaRPr>
          </a:p>
          <a:p>
            <a:r>
              <a:rPr lang="en-IN" dirty="0" err="1">
                <a:solidFill>
                  <a:schemeClr val="dk1"/>
                </a:solidFill>
                <a:latin typeface="+mn-lt"/>
                <a:ea typeface="+mn-ea"/>
                <a:cs typeface="+mn-cs"/>
              </a:rPr>
              <a:t>Password:string</a:t>
            </a:r>
            <a:endParaRPr lang="en-IN" dirty="0">
              <a:solidFill>
                <a:schemeClr val="dk1"/>
              </a:solidFill>
              <a:latin typeface="+mn-lt"/>
              <a:ea typeface="+mn-ea"/>
              <a:cs typeface="+mn-cs"/>
            </a:endParaRPr>
          </a:p>
          <a:p>
            <a:endParaRPr lang="en-IN" dirty="0">
              <a:solidFill>
                <a:schemeClr val="dk1"/>
              </a:solidFill>
              <a:latin typeface="+mn-lt"/>
              <a:ea typeface="+mn-ea"/>
              <a:cs typeface="+mn-cs"/>
            </a:endParaRPr>
          </a:p>
          <a:p>
            <a:r>
              <a:rPr lang="en-IN" dirty="0" err="1">
                <a:solidFill>
                  <a:schemeClr val="dk1"/>
                </a:solidFill>
                <a:latin typeface="+mn-lt"/>
                <a:ea typeface="+mn-ea"/>
                <a:cs typeface="+mn-cs"/>
              </a:rPr>
              <a:t>Login:void</a:t>
            </a:r>
            <a:r>
              <a:rPr lang="en-IN" dirty="0">
                <a:solidFill>
                  <a:schemeClr val="dk1"/>
                </a:solidFill>
                <a:latin typeface="+mn-lt"/>
                <a:ea typeface="+mn-ea"/>
                <a:cs typeface="+mn-cs"/>
              </a:rPr>
              <a:t>()</a:t>
            </a:r>
          </a:p>
          <a:p>
            <a:r>
              <a:rPr lang="en-IN" dirty="0" err="1">
                <a:solidFill>
                  <a:schemeClr val="dk1"/>
                </a:solidFill>
                <a:latin typeface="+mn-lt"/>
                <a:ea typeface="+mn-ea"/>
                <a:cs typeface="+mn-cs"/>
              </a:rPr>
              <a:t>addProduct:void</a:t>
            </a:r>
            <a:r>
              <a:rPr lang="en-IN" dirty="0">
                <a:solidFill>
                  <a:schemeClr val="dk1"/>
                </a:solidFill>
                <a:latin typeface="+mn-lt"/>
                <a:ea typeface="+mn-ea"/>
                <a:cs typeface="+mn-cs"/>
              </a:rPr>
              <a:t>()</a:t>
            </a:r>
          </a:p>
          <a:p>
            <a:r>
              <a:rPr lang="en-IN" dirty="0" err="1">
                <a:solidFill>
                  <a:schemeClr val="dk1"/>
                </a:solidFill>
                <a:latin typeface="+mn-lt"/>
                <a:ea typeface="+mn-ea"/>
                <a:cs typeface="+mn-cs"/>
              </a:rPr>
              <a:t>updateProduct:void</a:t>
            </a:r>
            <a:r>
              <a:rPr lang="en-IN" dirty="0">
                <a:solidFill>
                  <a:schemeClr val="dk1"/>
                </a:solidFill>
                <a:latin typeface="+mn-lt"/>
                <a:ea typeface="+mn-ea"/>
                <a:cs typeface="+mn-cs"/>
              </a:rPr>
              <a:t>()</a:t>
            </a:r>
          </a:p>
          <a:p>
            <a:r>
              <a:rPr lang="en-IN" dirty="0" err="1">
                <a:solidFill>
                  <a:schemeClr val="dk1"/>
                </a:solidFill>
                <a:latin typeface="+mn-lt"/>
                <a:ea typeface="+mn-ea"/>
                <a:cs typeface="+mn-cs"/>
              </a:rPr>
              <a:t>viewCurrentOrders:void</a:t>
            </a:r>
            <a:r>
              <a:rPr lang="en-IN" dirty="0">
                <a:solidFill>
                  <a:schemeClr val="dk1"/>
                </a:solidFill>
                <a:latin typeface="+mn-lt"/>
                <a:ea typeface="+mn-ea"/>
                <a:cs typeface="+mn-cs"/>
              </a:rPr>
              <a:t>()</a:t>
            </a:r>
          </a:p>
          <a:p>
            <a:r>
              <a:rPr lang="en-IN" dirty="0" err="1">
                <a:solidFill>
                  <a:schemeClr val="dk1"/>
                </a:solidFill>
                <a:latin typeface="+mn-lt"/>
                <a:ea typeface="+mn-ea"/>
                <a:cs typeface="+mn-cs"/>
              </a:rPr>
              <a:t>updateOrderStatus:void</a:t>
            </a:r>
            <a:r>
              <a:rPr lang="en-IN" dirty="0">
                <a:solidFill>
                  <a:schemeClr val="dk1"/>
                </a:solidFill>
                <a:latin typeface="+mn-lt"/>
                <a:ea typeface="+mn-ea"/>
                <a:cs typeface="+mn-cs"/>
              </a:rPr>
              <a:t>()</a:t>
            </a:r>
          </a:p>
          <a:p>
            <a:r>
              <a:rPr lang="en-IN" dirty="0" err="1">
                <a:solidFill>
                  <a:schemeClr val="dk1"/>
                </a:solidFill>
                <a:latin typeface="+mn-lt"/>
                <a:ea typeface="+mn-ea"/>
                <a:cs typeface="+mn-cs"/>
              </a:rPr>
              <a:t>addRawMaterial:void</a:t>
            </a:r>
            <a:r>
              <a:rPr lang="en-IN" dirty="0">
                <a:solidFill>
                  <a:schemeClr val="dk1"/>
                </a:solidFill>
                <a:latin typeface="+mn-lt"/>
                <a:ea typeface="+mn-ea"/>
                <a:cs typeface="+mn-cs"/>
              </a:rPr>
              <a:t>()</a:t>
            </a:r>
          </a:p>
          <a:p>
            <a:r>
              <a:rPr lang="en-IN" dirty="0" err="1">
                <a:solidFill>
                  <a:schemeClr val="dk1"/>
                </a:solidFill>
                <a:latin typeface="+mn-lt"/>
                <a:ea typeface="+mn-ea"/>
                <a:cs typeface="+mn-cs"/>
              </a:rPr>
              <a:t>updateRawMaterial:void</a:t>
            </a:r>
            <a:r>
              <a:rPr lang="en-IN" dirty="0">
                <a:solidFill>
                  <a:schemeClr val="dk1"/>
                </a:solidFill>
                <a:latin typeface="+mn-lt"/>
                <a:ea typeface="+mn-ea"/>
                <a:cs typeface="+mn-cs"/>
              </a:rPr>
              <a:t>()</a:t>
            </a:r>
          </a:p>
          <a:p>
            <a:r>
              <a:rPr lang="en-IN" dirty="0" err="1">
                <a:solidFill>
                  <a:schemeClr val="dk1"/>
                </a:solidFill>
                <a:latin typeface="+mn-lt"/>
                <a:ea typeface="+mn-ea"/>
                <a:cs typeface="+mn-cs"/>
              </a:rPr>
              <a:t>viewFeedback:void</a:t>
            </a:r>
            <a:r>
              <a:rPr lang="en-IN" dirty="0">
                <a:solidFill>
                  <a:schemeClr val="dk1"/>
                </a:solidFill>
                <a:latin typeface="+mn-lt"/>
                <a:ea typeface="+mn-ea"/>
                <a:cs typeface="+mn-cs"/>
              </a:rPr>
              <a:t>()</a:t>
            </a:r>
          </a:p>
          <a:p>
            <a:r>
              <a:rPr lang="en-IN" dirty="0" err="1">
                <a:solidFill>
                  <a:schemeClr val="dk1"/>
                </a:solidFill>
                <a:latin typeface="+mn-lt"/>
                <a:ea typeface="+mn-ea"/>
                <a:cs typeface="+mn-cs"/>
              </a:rPr>
              <a:t>RawMaterialOrder:void</a:t>
            </a:r>
            <a:r>
              <a:rPr lang="en-IN" dirty="0">
                <a:solidFill>
                  <a:schemeClr val="dk1"/>
                </a:solidFill>
                <a:latin typeface="+mn-lt"/>
                <a:ea typeface="+mn-ea"/>
                <a:cs typeface="+mn-cs"/>
              </a:rPr>
              <a:t>()</a:t>
            </a:r>
            <a:br>
              <a:rPr lang="en-IN" dirty="0"/>
            </a:br>
            <a:endParaRPr lang="en-IN" dirty="0"/>
          </a:p>
        </p:txBody>
      </p:sp>
      <p:cxnSp>
        <p:nvCxnSpPr>
          <p:cNvPr id="3" name="Straight Connector 2">
            <a:extLst>
              <a:ext uri="{FF2B5EF4-FFF2-40B4-BE49-F238E27FC236}">
                <a16:creationId xmlns:a16="http://schemas.microsoft.com/office/drawing/2014/main" id="{BD95BA83-04B2-B9EE-7CF8-45DEC2085A2B}"/>
              </a:ext>
            </a:extLst>
          </p:cNvPr>
          <p:cNvCxnSpPr>
            <a:cxnSpLocks/>
          </p:cNvCxnSpPr>
          <p:nvPr/>
        </p:nvCxnSpPr>
        <p:spPr>
          <a:xfrm>
            <a:off x="1066800" y="1828800"/>
            <a:ext cx="25146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5A43BB0B-DF8C-4B09-5E3D-71672C89B023}"/>
              </a:ext>
            </a:extLst>
          </p:cNvPr>
          <p:cNvCxnSpPr>
            <a:cxnSpLocks/>
          </p:cNvCxnSpPr>
          <p:nvPr/>
        </p:nvCxnSpPr>
        <p:spPr>
          <a:xfrm>
            <a:off x="1066800" y="3124200"/>
            <a:ext cx="2514600"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E677F984-4CBE-1B6F-9204-E66F6CA66FEA}"/>
              </a:ext>
            </a:extLst>
          </p:cNvPr>
          <p:cNvCxnSpPr>
            <a:cxnSpLocks/>
          </p:cNvCxnSpPr>
          <p:nvPr/>
        </p:nvCxnSpPr>
        <p:spPr>
          <a:xfrm>
            <a:off x="4419600" y="1795272"/>
            <a:ext cx="2667000"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FA2D7BA-2204-AE6D-E432-729E80664BB4}"/>
              </a:ext>
            </a:extLst>
          </p:cNvPr>
          <p:cNvCxnSpPr>
            <a:cxnSpLocks/>
          </p:cNvCxnSpPr>
          <p:nvPr/>
        </p:nvCxnSpPr>
        <p:spPr>
          <a:xfrm>
            <a:off x="4419600" y="2819400"/>
            <a:ext cx="2667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09201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EF38A-DF90-C724-686B-497FE9D7998E}"/>
              </a:ext>
            </a:extLst>
          </p:cNvPr>
          <p:cNvSpPr/>
          <p:nvPr/>
        </p:nvSpPr>
        <p:spPr>
          <a:xfrm>
            <a:off x="1447800" y="1600200"/>
            <a:ext cx="2743200" cy="32644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dk1"/>
                </a:solidFill>
                <a:latin typeface="+mn-lt"/>
                <a:ea typeface="+mn-ea"/>
                <a:cs typeface="+mn-cs"/>
              </a:rPr>
              <a:t>                Product</a:t>
            </a:r>
            <a:endParaRPr lang="en-US" dirty="0">
              <a:solidFill>
                <a:schemeClr val="dk1"/>
              </a:solidFill>
              <a:latin typeface="+mn-lt"/>
              <a:ea typeface="+mn-ea"/>
              <a:cs typeface="+mn-cs"/>
            </a:endParaRPr>
          </a:p>
          <a:p>
            <a:r>
              <a:rPr lang="en-US" dirty="0" err="1">
                <a:solidFill>
                  <a:schemeClr val="dk1"/>
                </a:solidFill>
                <a:latin typeface="+mn-lt"/>
                <a:ea typeface="+mn-ea"/>
                <a:cs typeface="+mn-cs"/>
              </a:rPr>
              <a:t>productid:int</a:t>
            </a:r>
            <a:endParaRPr lang="en-US" dirty="0">
              <a:solidFill>
                <a:schemeClr val="dk1"/>
              </a:solidFill>
              <a:latin typeface="+mn-lt"/>
              <a:ea typeface="+mn-ea"/>
              <a:cs typeface="+mn-cs"/>
            </a:endParaRPr>
          </a:p>
          <a:p>
            <a:r>
              <a:rPr lang="en-US" dirty="0" err="1">
                <a:solidFill>
                  <a:schemeClr val="dk1"/>
                </a:solidFill>
                <a:latin typeface="+mn-lt"/>
                <a:ea typeface="+mn-ea"/>
                <a:cs typeface="+mn-cs"/>
              </a:rPr>
              <a:t>productName:string</a:t>
            </a:r>
            <a:endParaRPr lang="en-US" dirty="0">
              <a:solidFill>
                <a:schemeClr val="dk1"/>
              </a:solidFill>
              <a:latin typeface="+mn-lt"/>
              <a:ea typeface="+mn-ea"/>
              <a:cs typeface="+mn-cs"/>
            </a:endParaRPr>
          </a:p>
          <a:p>
            <a:r>
              <a:rPr lang="en-US" dirty="0" err="1">
                <a:solidFill>
                  <a:schemeClr val="dk1"/>
                </a:solidFill>
                <a:latin typeface="+mn-lt"/>
                <a:ea typeface="+mn-ea"/>
                <a:cs typeface="+mn-cs"/>
              </a:rPr>
              <a:t>Price:int</a:t>
            </a:r>
            <a:endParaRPr lang="en-US" dirty="0">
              <a:solidFill>
                <a:schemeClr val="dk1"/>
              </a:solidFill>
              <a:latin typeface="+mn-lt"/>
              <a:ea typeface="+mn-ea"/>
              <a:cs typeface="+mn-cs"/>
            </a:endParaRPr>
          </a:p>
          <a:p>
            <a:r>
              <a:rPr lang="en-US" dirty="0" err="1">
                <a:solidFill>
                  <a:schemeClr val="dk1"/>
                </a:solidFill>
                <a:latin typeface="+mn-lt"/>
                <a:ea typeface="+mn-ea"/>
                <a:cs typeface="+mn-cs"/>
              </a:rPr>
              <a:t>stockQty:int</a:t>
            </a:r>
            <a:endParaRPr lang="en-US" dirty="0">
              <a:solidFill>
                <a:schemeClr val="dk1"/>
              </a:solidFill>
              <a:latin typeface="+mn-lt"/>
              <a:ea typeface="+mn-ea"/>
              <a:cs typeface="+mn-cs"/>
            </a:endParaRPr>
          </a:p>
          <a:p>
            <a:endParaRPr lang="en-US" dirty="0">
              <a:solidFill>
                <a:schemeClr val="dk1"/>
              </a:solidFill>
              <a:latin typeface="+mn-lt"/>
              <a:ea typeface="+mn-ea"/>
              <a:cs typeface="+mn-cs"/>
            </a:endParaRPr>
          </a:p>
          <a:p>
            <a:r>
              <a:rPr lang="en-US" dirty="0" err="1">
                <a:solidFill>
                  <a:schemeClr val="dk1"/>
                </a:solidFill>
                <a:latin typeface="+mn-lt"/>
                <a:ea typeface="+mn-ea"/>
                <a:cs typeface="+mn-cs"/>
              </a:rPr>
              <a:t>getDetails:void</a:t>
            </a:r>
            <a:r>
              <a:rPr lang="en-US" dirty="0">
                <a:solidFill>
                  <a:schemeClr val="dk1"/>
                </a:solidFill>
                <a:latin typeface="+mn-lt"/>
                <a:ea typeface="+mn-ea"/>
                <a:cs typeface="+mn-cs"/>
              </a:rPr>
              <a:t>()</a:t>
            </a:r>
          </a:p>
          <a:p>
            <a:r>
              <a:rPr lang="en-US" dirty="0" err="1">
                <a:solidFill>
                  <a:schemeClr val="dk1"/>
                </a:solidFill>
                <a:latin typeface="+mn-lt"/>
                <a:ea typeface="+mn-ea"/>
                <a:cs typeface="+mn-cs"/>
              </a:rPr>
              <a:t>updateStock:void</a:t>
            </a:r>
            <a:r>
              <a:rPr lang="en-US" dirty="0">
                <a:solidFill>
                  <a:schemeClr val="dk1"/>
                </a:solidFill>
                <a:latin typeface="+mn-lt"/>
                <a:ea typeface="+mn-ea"/>
                <a:cs typeface="+mn-cs"/>
              </a:rPr>
              <a:t>()</a:t>
            </a:r>
          </a:p>
          <a:p>
            <a:br>
              <a:rPr lang="en-US" dirty="0"/>
            </a:br>
            <a:endParaRPr lang="en-IN" dirty="0"/>
          </a:p>
        </p:txBody>
      </p:sp>
      <p:sp>
        <p:nvSpPr>
          <p:cNvPr id="3" name="Rectangle 2">
            <a:extLst>
              <a:ext uri="{FF2B5EF4-FFF2-40B4-BE49-F238E27FC236}">
                <a16:creationId xmlns:a16="http://schemas.microsoft.com/office/drawing/2014/main" id="{BF1E7700-CF61-DF69-A223-E75DDE19143F}"/>
              </a:ext>
            </a:extLst>
          </p:cNvPr>
          <p:cNvSpPr/>
          <p:nvPr/>
        </p:nvSpPr>
        <p:spPr>
          <a:xfrm>
            <a:off x="5638800" y="1511808"/>
            <a:ext cx="27432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dk1"/>
                </a:solidFill>
                <a:latin typeface="+mn-lt"/>
                <a:ea typeface="+mn-ea"/>
                <a:cs typeface="+mn-cs"/>
              </a:rPr>
              <a:t>                   Order</a:t>
            </a:r>
            <a:endParaRPr lang="en-US" dirty="0">
              <a:solidFill>
                <a:schemeClr val="dk1"/>
              </a:solidFill>
              <a:latin typeface="+mn-lt"/>
              <a:ea typeface="+mn-ea"/>
              <a:cs typeface="+mn-cs"/>
            </a:endParaRPr>
          </a:p>
          <a:p>
            <a:r>
              <a:rPr lang="en-US" dirty="0" err="1">
                <a:solidFill>
                  <a:schemeClr val="dk1"/>
                </a:solidFill>
                <a:latin typeface="+mn-lt"/>
                <a:ea typeface="+mn-ea"/>
                <a:cs typeface="+mn-cs"/>
              </a:rPr>
              <a:t>orderId:int</a:t>
            </a:r>
            <a:endParaRPr lang="en-US" dirty="0">
              <a:solidFill>
                <a:schemeClr val="dk1"/>
              </a:solidFill>
              <a:latin typeface="+mn-lt"/>
              <a:ea typeface="+mn-ea"/>
              <a:cs typeface="+mn-cs"/>
            </a:endParaRPr>
          </a:p>
          <a:p>
            <a:r>
              <a:rPr lang="en-US" dirty="0" err="1">
                <a:solidFill>
                  <a:schemeClr val="dk1"/>
                </a:solidFill>
                <a:latin typeface="+mn-lt"/>
                <a:ea typeface="+mn-ea"/>
                <a:cs typeface="+mn-cs"/>
              </a:rPr>
              <a:t>orderDate:int</a:t>
            </a:r>
            <a:endParaRPr lang="en-US" dirty="0">
              <a:solidFill>
                <a:schemeClr val="dk1"/>
              </a:solidFill>
              <a:latin typeface="+mn-lt"/>
              <a:ea typeface="+mn-ea"/>
              <a:cs typeface="+mn-cs"/>
            </a:endParaRPr>
          </a:p>
          <a:p>
            <a:r>
              <a:rPr lang="en-US" dirty="0">
                <a:solidFill>
                  <a:schemeClr val="dk1"/>
                </a:solidFill>
                <a:latin typeface="+mn-lt"/>
                <a:ea typeface="+mn-ea"/>
                <a:cs typeface="+mn-cs"/>
              </a:rPr>
              <a:t>status </a:t>
            </a:r>
            <a:r>
              <a:rPr lang="en-US" i="1" dirty="0">
                <a:solidFill>
                  <a:schemeClr val="dk1"/>
                </a:solidFill>
                <a:latin typeface="+mn-lt"/>
                <a:ea typeface="+mn-ea"/>
                <a:cs typeface="+mn-cs"/>
              </a:rPr>
              <a:t>(accepted / dispatched / delivered)</a:t>
            </a:r>
            <a:endParaRPr lang="en-US" dirty="0">
              <a:solidFill>
                <a:schemeClr val="dk1"/>
              </a:solidFill>
              <a:latin typeface="+mn-lt"/>
              <a:ea typeface="+mn-ea"/>
              <a:cs typeface="+mn-cs"/>
            </a:endParaRPr>
          </a:p>
          <a:p>
            <a:r>
              <a:rPr lang="en-US" dirty="0" err="1">
                <a:solidFill>
                  <a:schemeClr val="dk1"/>
                </a:solidFill>
                <a:latin typeface="+mn-lt"/>
                <a:ea typeface="+mn-ea"/>
                <a:cs typeface="+mn-cs"/>
              </a:rPr>
              <a:t>totalAmount:double</a:t>
            </a:r>
            <a:endParaRPr lang="en-US" dirty="0"/>
          </a:p>
          <a:p>
            <a:endParaRPr lang="en-US" dirty="0">
              <a:solidFill>
                <a:schemeClr val="dk1"/>
              </a:solidFill>
              <a:latin typeface="+mn-lt"/>
              <a:ea typeface="+mn-ea"/>
              <a:cs typeface="+mn-cs"/>
            </a:endParaRPr>
          </a:p>
          <a:p>
            <a:r>
              <a:rPr lang="en-US" dirty="0" err="1">
                <a:solidFill>
                  <a:schemeClr val="dk1"/>
                </a:solidFill>
                <a:latin typeface="+mn-lt"/>
                <a:ea typeface="+mn-ea"/>
                <a:cs typeface="+mn-cs"/>
              </a:rPr>
              <a:t>createOrder:void</a:t>
            </a:r>
            <a:r>
              <a:rPr lang="en-US" dirty="0">
                <a:solidFill>
                  <a:schemeClr val="dk1"/>
                </a:solidFill>
                <a:latin typeface="+mn-lt"/>
                <a:ea typeface="+mn-ea"/>
                <a:cs typeface="+mn-cs"/>
              </a:rPr>
              <a:t>()</a:t>
            </a:r>
          </a:p>
          <a:p>
            <a:r>
              <a:rPr lang="en-US" dirty="0" err="1">
                <a:solidFill>
                  <a:schemeClr val="dk1"/>
                </a:solidFill>
                <a:latin typeface="+mn-lt"/>
                <a:ea typeface="+mn-ea"/>
                <a:cs typeface="+mn-cs"/>
              </a:rPr>
              <a:t>updateStatus:void</a:t>
            </a:r>
            <a:r>
              <a:rPr lang="en-US" dirty="0">
                <a:solidFill>
                  <a:schemeClr val="dk1"/>
                </a:solidFill>
                <a:latin typeface="+mn-lt"/>
                <a:ea typeface="+mn-ea"/>
                <a:cs typeface="+mn-cs"/>
              </a:rPr>
              <a:t>()</a:t>
            </a:r>
          </a:p>
          <a:p>
            <a:br>
              <a:rPr lang="en-US" dirty="0"/>
            </a:br>
            <a:endParaRPr lang="en-IN" dirty="0"/>
          </a:p>
        </p:txBody>
      </p:sp>
      <p:cxnSp>
        <p:nvCxnSpPr>
          <p:cNvPr id="8" name="Straight Connector 7">
            <a:extLst>
              <a:ext uri="{FF2B5EF4-FFF2-40B4-BE49-F238E27FC236}">
                <a16:creationId xmlns:a16="http://schemas.microsoft.com/office/drawing/2014/main" id="{B2EC99B9-EA01-9021-B905-73A6CFB0E0F5}"/>
              </a:ext>
            </a:extLst>
          </p:cNvPr>
          <p:cNvCxnSpPr>
            <a:cxnSpLocks/>
          </p:cNvCxnSpPr>
          <p:nvPr/>
        </p:nvCxnSpPr>
        <p:spPr>
          <a:xfrm>
            <a:off x="1447800" y="2133600"/>
            <a:ext cx="2743200"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3AF9925-F564-817E-A6F4-053EA81E592D}"/>
              </a:ext>
            </a:extLst>
          </p:cNvPr>
          <p:cNvCxnSpPr>
            <a:cxnSpLocks/>
          </p:cNvCxnSpPr>
          <p:nvPr/>
        </p:nvCxnSpPr>
        <p:spPr>
          <a:xfrm>
            <a:off x="1447800" y="3453384"/>
            <a:ext cx="27432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53DB23DD-EDE9-1EBF-0329-3FBB243F57A6}"/>
              </a:ext>
            </a:extLst>
          </p:cNvPr>
          <p:cNvCxnSpPr>
            <a:cxnSpLocks/>
          </p:cNvCxnSpPr>
          <p:nvPr/>
        </p:nvCxnSpPr>
        <p:spPr>
          <a:xfrm>
            <a:off x="5638800" y="1981200"/>
            <a:ext cx="2743200"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2E99500-9A9E-098F-E8F4-FFBA02F02DA8}"/>
              </a:ext>
            </a:extLst>
          </p:cNvPr>
          <p:cNvCxnSpPr>
            <a:cxnSpLocks/>
          </p:cNvCxnSpPr>
          <p:nvPr/>
        </p:nvCxnSpPr>
        <p:spPr>
          <a:xfrm>
            <a:off x="5638800" y="3581400"/>
            <a:ext cx="27432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2065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2D1738-C7F1-1EB7-4148-D8A40010E233}"/>
              </a:ext>
            </a:extLst>
          </p:cNvPr>
          <p:cNvSpPr/>
          <p:nvPr/>
        </p:nvSpPr>
        <p:spPr>
          <a:xfrm>
            <a:off x="1219200" y="1828800"/>
            <a:ext cx="2743200" cy="2438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dk1"/>
                </a:solidFill>
                <a:latin typeface="+mn-lt"/>
                <a:ea typeface="+mn-ea"/>
                <a:cs typeface="+mn-cs"/>
              </a:rPr>
              <a:t>               Payment</a:t>
            </a:r>
          </a:p>
          <a:p>
            <a:endParaRPr lang="en-US" dirty="0">
              <a:solidFill>
                <a:schemeClr val="dk1"/>
              </a:solidFill>
              <a:latin typeface="+mn-lt"/>
              <a:ea typeface="+mn-ea"/>
              <a:cs typeface="+mn-cs"/>
            </a:endParaRPr>
          </a:p>
          <a:p>
            <a:r>
              <a:rPr lang="en-US" dirty="0" err="1">
                <a:solidFill>
                  <a:schemeClr val="dk1"/>
                </a:solidFill>
                <a:latin typeface="+mn-lt"/>
                <a:ea typeface="+mn-ea"/>
                <a:cs typeface="+mn-cs"/>
              </a:rPr>
              <a:t>paymentId:int</a:t>
            </a:r>
            <a:endParaRPr lang="en-US" dirty="0">
              <a:solidFill>
                <a:schemeClr val="dk1"/>
              </a:solidFill>
              <a:latin typeface="+mn-lt"/>
              <a:ea typeface="+mn-ea"/>
              <a:cs typeface="+mn-cs"/>
            </a:endParaRPr>
          </a:p>
          <a:p>
            <a:r>
              <a:rPr lang="en-US" dirty="0" err="1">
                <a:solidFill>
                  <a:schemeClr val="dk1"/>
                </a:solidFill>
                <a:latin typeface="+mn-lt"/>
                <a:ea typeface="+mn-ea"/>
                <a:cs typeface="+mn-cs"/>
              </a:rPr>
              <a:t>paymentDate:int</a:t>
            </a:r>
            <a:endParaRPr lang="en-US" dirty="0">
              <a:solidFill>
                <a:schemeClr val="dk1"/>
              </a:solidFill>
              <a:latin typeface="+mn-lt"/>
              <a:ea typeface="+mn-ea"/>
              <a:cs typeface="+mn-cs"/>
            </a:endParaRPr>
          </a:p>
          <a:p>
            <a:r>
              <a:rPr lang="en-US" dirty="0" err="1">
                <a:solidFill>
                  <a:schemeClr val="dk1"/>
                </a:solidFill>
                <a:latin typeface="+mn-lt"/>
                <a:ea typeface="+mn-ea"/>
                <a:cs typeface="+mn-cs"/>
              </a:rPr>
              <a:t>Amount:double</a:t>
            </a:r>
            <a:endParaRPr lang="en-US" dirty="0">
              <a:solidFill>
                <a:schemeClr val="dk1"/>
              </a:solidFill>
              <a:latin typeface="+mn-lt"/>
              <a:ea typeface="+mn-ea"/>
              <a:cs typeface="+mn-cs"/>
            </a:endParaRPr>
          </a:p>
          <a:p>
            <a:r>
              <a:rPr lang="en-US" dirty="0" err="1">
                <a:solidFill>
                  <a:schemeClr val="dk1"/>
                </a:solidFill>
                <a:latin typeface="+mn-lt"/>
                <a:ea typeface="+mn-ea"/>
                <a:cs typeface="+mn-cs"/>
              </a:rPr>
              <a:t>paymentStatus:string</a:t>
            </a:r>
            <a:endParaRPr lang="en-US" dirty="0"/>
          </a:p>
          <a:p>
            <a:endParaRPr lang="en-US" dirty="0">
              <a:solidFill>
                <a:schemeClr val="dk1"/>
              </a:solidFill>
              <a:latin typeface="+mn-lt"/>
              <a:ea typeface="+mn-ea"/>
              <a:cs typeface="+mn-cs"/>
            </a:endParaRPr>
          </a:p>
          <a:p>
            <a:r>
              <a:rPr lang="en-US" dirty="0" err="1">
                <a:solidFill>
                  <a:schemeClr val="dk1"/>
                </a:solidFill>
                <a:latin typeface="+mn-lt"/>
                <a:ea typeface="+mn-ea"/>
                <a:cs typeface="+mn-cs"/>
              </a:rPr>
              <a:t>makePayment:void</a:t>
            </a:r>
            <a:r>
              <a:rPr lang="en-US" dirty="0">
                <a:solidFill>
                  <a:schemeClr val="dk1"/>
                </a:solidFill>
                <a:latin typeface="+mn-lt"/>
                <a:ea typeface="+mn-ea"/>
                <a:cs typeface="+mn-cs"/>
              </a:rPr>
              <a:t>()</a:t>
            </a:r>
          </a:p>
        </p:txBody>
      </p:sp>
      <p:sp>
        <p:nvSpPr>
          <p:cNvPr id="3" name="Rectangle 2">
            <a:extLst>
              <a:ext uri="{FF2B5EF4-FFF2-40B4-BE49-F238E27FC236}">
                <a16:creationId xmlns:a16="http://schemas.microsoft.com/office/drawing/2014/main" id="{5CC0B4DB-2818-6A54-BA0D-6AD47338D414}"/>
              </a:ext>
            </a:extLst>
          </p:cNvPr>
          <p:cNvSpPr/>
          <p:nvPr/>
        </p:nvSpPr>
        <p:spPr>
          <a:xfrm>
            <a:off x="4876800" y="2133601"/>
            <a:ext cx="2895600" cy="18287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dk1"/>
                </a:solidFill>
                <a:latin typeface="+mn-lt"/>
                <a:ea typeface="+mn-ea"/>
                <a:cs typeface="+mn-cs"/>
              </a:rPr>
              <a:t>                 Feedback</a:t>
            </a:r>
          </a:p>
          <a:p>
            <a:endParaRPr lang="en-US" dirty="0">
              <a:solidFill>
                <a:schemeClr val="dk1"/>
              </a:solidFill>
              <a:latin typeface="+mn-lt"/>
              <a:ea typeface="+mn-ea"/>
              <a:cs typeface="+mn-cs"/>
            </a:endParaRPr>
          </a:p>
          <a:p>
            <a:r>
              <a:rPr lang="en-US" dirty="0" err="1">
                <a:solidFill>
                  <a:schemeClr val="dk1"/>
                </a:solidFill>
                <a:latin typeface="+mn-lt"/>
                <a:ea typeface="+mn-ea"/>
                <a:cs typeface="+mn-cs"/>
              </a:rPr>
              <a:t>feedbackId:int</a:t>
            </a:r>
            <a:endParaRPr lang="en-US" dirty="0">
              <a:solidFill>
                <a:schemeClr val="dk1"/>
              </a:solidFill>
              <a:latin typeface="+mn-lt"/>
              <a:ea typeface="+mn-ea"/>
              <a:cs typeface="+mn-cs"/>
            </a:endParaRPr>
          </a:p>
          <a:p>
            <a:r>
              <a:rPr lang="en-US" dirty="0" err="1">
                <a:solidFill>
                  <a:schemeClr val="dk1"/>
                </a:solidFill>
                <a:latin typeface="+mn-lt"/>
                <a:ea typeface="+mn-ea"/>
                <a:cs typeface="+mn-cs"/>
              </a:rPr>
              <a:t>Message:string</a:t>
            </a:r>
            <a:endParaRPr lang="en-US" dirty="0">
              <a:solidFill>
                <a:schemeClr val="dk1"/>
              </a:solidFill>
              <a:latin typeface="+mn-lt"/>
              <a:ea typeface="+mn-ea"/>
              <a:cs typeface="+mn-cs"/>
            </a:endParaRPr>
          </a:p>
          <a:p>
            <a:r>
              <a:rPr lang="en-US" dirty="0" err="1">
                <a:solidFill>
                  <a:schemeClr val="dk1"/>
                </a:solidFill>
                <a:latin typeface="+mn-lt"/>
                <a:ea typeface="+mn-ea"/>
                <a:cs typeface="+mn-cs"/>
              </a:rPr>
              <a:t>Rating:int</a:t>
            </a:r>
            <a:endParaRPr lang="en-US" dirty="0">
              <a:solidFill>
                <a:schemeClr val="dk1"/>
              </a:solidFill>
              <a:latin typeface="+mn-lt"/>
              <a:ea typeface="+mn-ea"/>
              <a:cs typeface="+mn-cs"/>
            </a:endParaRPr>
          </a:p>
        </p:txBody>
      </p:sp>
      <p:cxnSp>
        <p:nvCxnSpPr>
          <p:cNvPr id="4" name="Straight Connector 3">
            <a:extLst>
              <a:ext uri="{FF2B5EF4-FFF2-40B4-BE49-F238E27FC236}">
                <a16:creationId xmlns:a16="http://schemas.microsoft.com/office/drawing/2014/main" id="{BFCD4F7E-EF9C-A347-D152-98BE1E9F7058}"/>
              </a:ext>
            </a:extLst>
          </p:cNvPr>
          <p:cNvCxnSpPr>
            <a:cxnSpLocks/>
          </p:cNvCxnSpPr>
          <p:nvPr/>
        </p:nvCxnSpPr>
        <p:spPr>
          <a:xfrm>
            <a:off x="1219200" y="2362200"/>
            <a:ext cx="2743200"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3F95D96E-50E6-7166-9D75-A870946AE10E}"/>
              </a:ext>
            </a:extLst>
          </p:cNvPr>
          <p:cNvCxnSpPr>
            <a:cxnSpLocks/>
          </p:cNvCxnSpPr>
          <p:nvPr/>
        </p:nvCxnSpPr>
        <p:spPr>
          <a:xfrm>
            <a:off x="1219200" y="3733800"/>
            <a:ext cx="274320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8DE18E27-FDDE-8178-E27E-CC8DB6255C2B}"/>
              </a:ext>
            </a:extLst>
          </p:cNvPr>
          <p:cNvCxnSpPr>
            <a:cxnSpLocks/>
          </p:cNvCxnSpPr>
          <p:nvPr/>
        </p:nvCxnSpPr>
        <p:spPr>
          <a:xfrm>
            <a:off x="4876800" y="2819400"/>
            <a:ext cx="28956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102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F35716-B876-6A86-00D9-838E5DD4BABD}"/>
              </a:ext>
            </a:extLst>
          </p:cNvPr>
          <p:cNvSpPr/>
          <p:nvPr/>
        </p:nvSpPr>
        <p:spPr>
          <a:xfrm>
            <a:off x="5181600" y="1333500"/>
            <a:ext cx="2667000" cy="27431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b="1" dirty="0">
                <a:solidFill>
                  <a:schemeClr val="dk1"/>
                </a:solidFill>
                <a:latin typeface="+mn-lt"/>
                <a:ea typeface="+mn-ea"/>
                <a:cs typeface="+mn-cs"/>
              </a:rPr>
              <a:t>           </a:t>
            </a:r>
            <a:r>
              <a:rPr lang="en-IN" b="1" dirty="0" err="1">
                <a:solidFill>
                  <a:schemeClr val="dk1"/>
                </a:solidFill>
                <a:latin typeface="+mn-lt"/>
                <a:ea typeface="+mn-ea"/>
                <a:cs typeface="+mn-cs"/>
              </a:rPr>
              <a:t>RawMaterial</a:t>
            </a:r>
            <a:endParaRPr lang="en-IN" b="1" dirty="0">
              <a:solidFill>
                <a:schemeClr val="dk1"/>
              </a:solidFill>
              <a:latin typeface="+mn-lt"/>
              <a:ea typeface="+mn-ea"/>
              <a:cs typeface="+mn-cs"/>
            </a:endParaRPr>
          </a:p>
          <a:p>
            <a:endParaRPr lang="en-IN" dirty="0">
              <a:solidFill>
                <a:schemeClr val="dk1"/>
              </a:solidFill>
              <a:latin typeface="+mn-lt"/>
              <a:ea typeface="+mn-ea"/>
              <a:cs typeface="+mn-cs"/>
            </a:endParaRPr>
          </a:p>
          <a:p>
            <a:r>
              <a:rPr lang="en-IN" dirty="0" err="1">
                <a:solidFill>
                  <a:schemeClr val="dk1"/>
                </a:solidFill>
                <a:latin typeface="+mn-lt"/>
                <a:ea typeface="+mn-ea"/>
                <a:cs typeface="+mn-cs"/>
              </a:rPr>
              <a:t>materialId:int</a:t>
            </a:r>
            <a:endParaRPr lang="en-IN" dirty="0">
              <a:solidFill>
                <a:schemeClr val="dk1"/>
              </a:solidFill>
              <a:latin typeface="+mn-lt"/>
              <a:ea typeface="+mn-ea"/>
              <a:cs typeface="+mn-cs"/>
            </a:endParaRPr>
          </a:p>
          <a:p>
            <a:r>
              <a:rPr lang="en-IN" dirty="0" err="1">
                <a:solidFill>
                  <a:schemeClr val="dk1"/>
                </a:solidFill>
                <a:latin typeface="+mn-lt"/>
                <a:ea typeface="+mn-ea"/>
                <a:cs typeface="+mn-cs"/>
              </a:rPr>
              <a:t>materialName:string</a:t>
            </a:r>
            <a:endParaRPr lang="en-IN" dirty="0">
              <a:solidFill>
                <a:schemeClr val="dk1"/>
              </a:solidFill>
              <a:latin typeface="+mn-lt"/>
              <a:ea typeface="+mn-ea"/>
              <a:cs typeface="+mn-cs"/>
            </a:endParaRPr>
          </a:p>
          <a:p>
            <a:r>
              <a:rPr lang="en-IN" dirty="0" err="1">
                <a:solidFill>
                  <a:schemeClr val="dk1"/>
                </a:solidFill>
                <a:latin typeface="+mn-lt"/>
                <a:ea typeface="+mn-ea"/>
                <a:cs typeface="+mn-cs"/>
              </a:rPr>
              <a:t>Quantity:int</a:t>
            </a:r>
            <a:endParaRPr lang="en-IN" dirty="0">
              <a:solidFill>
                <a:schemeClr val="dk1"/>
              </a:solidFill>
              <a:latin typeface="+mn-lt"/>
              <a:ea typeface="+mn-ea"/>
              <a:cs typeface="+mn-cs"/>
            </a:endParaRPr>
          </a:p>
          <a:p>
            <a:endParaRPr lang="en-IN" dirty="0">
              <a:solidFill>
                <a:schemeClr val="dk1"/>
              </a:solidFill>
              <a:latin typeface="+mn-lt"/>
              <a:ea typeface="+mn-ea"/>
              <a:cs typeface="+mn-cs"/>
            </a:endParaRPr>
          </a:p>
          <a:p>
            <a:r>
              <a:rPr lang="en-IN" dirty="0" err="1">
                <a:solidFill>
                  <a:schemeClr val="dk1"/>
                </a:solidFill>
                <a:latin typeface="+mn-lt"/>
                <a:ea typeface="+mn-ea"/>
                <a:cs typeface="+mn-cs"/>
              </a:rPr>
              <a:t>addMaterial:void</a:t>
            </a:r>
            <a:r>
              <a:rPr lang="en-IN" dirty="0">
                <a:solidFill>
                  <a:schemeClr val="dk1"/>
                </a:solidFill>
                <a:latin typeface="+mn-lt"/>
                <a:ea typeface="+mn-ea"/>
                <a:cs typeface="+mn-cs"/>
              </a:rPr>
              <a:t>()</a:t>
            </a:r>
          </a:p>
          <a:p>
            <a:r>
              <a:rPr lang="en-IN" dirty="0" err="1">
                <a:solidFill>
                  <a:schemeClr val="dk1"/>
                </a:solidFill>
                <a:latin typeface="+mn-lt"/>
                <a:ea typeface="+mn-ea"/>
                <a:cs typeface="+mn-cs"/>
              </a:rPr>
              <a:t>updateMaterial:void</a:t>
            </a:r>
            <a:r>
              <a:rPr lang="en-IN" dirty="0">
                <a:solidFill>
                  <a:schemeClr val="dk1"/>
                </a:solidFill>
                <a:latin typeface="+mn-lt"/>
                <a:ea typeface="+mn-ea"/>
                <a:cs typeface="+mn-cs"/>
              </a:rPr>
              <a:t>()  </a:t>
            </a:r>
          </a:p>
        </p:txBody>
      </p:sp>
      <p:sp>
        <p:nvSpPr>
          <p:cNvPr id="5" name="Rectangle 4">
            <a:extLst>
              <a:ext uri="{FF2B5EF4-FFF2-40B4-BE49-F238E27FC236}">
                <a16:creationId xmlns:a16="http://schemas.microsoft.com/office/drawing/2014/main" id="{92EFC40A-2A47-173F-770E-5430B5B7AE69}"/>
              </a:ext>
            </a:extLst>
          </p:cNvPr>
          <p:cNvSpPr/>
          <p:nvPr/>
        </p:nvSpPr>
        <p:spPr>
          <a:xfrm>
            <a:off x="1524000" y="1600200"/>
            <a:ext cx="2667000" cy="2209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dk1"/>
                </a:solidFill>
                <a:latin typeface="+mn-lt"/>
                <a:ea typeface="+mn-ea"/>
                <a:cs typeface="+mn-cs"/>
              </a:rPr>
              <a:t>                   Stock</a:t>
            </a:r>
          </a:p>
          <a:p>
            <a:endParaRPr lang="en-US" dirty="0">
              <a:solidFill>
                <a:schemeClr val="dk1"/>
              </a:solidFill>
              <a:latin typeface="+mn-lt"/>
              <a:ea typeface="+mn-ea"/>
              <a:cs typeface="+mn-cs"/>
            </a:endParaRPr>
          </a:p>
          <a:p>
            <a:r>
              <a:rPr lang="en-US" dirty="0" err="1">
                <a:solidFill>
                  <a:schemeClr val="dk1"/>
                </a:solidFill>
                <a:latin typeface="+mn-lt"/>
                <a:ea typeface="+mn-ea"/>
                <a:cs typeface="+mn-cs"/>
              </a:rPr>
              <a:t>stockId:int</a:t>
            </a:r>
            <a:endParaRPr lang="en-US" dirty="0">
              <a:solidFill>
                <a:schemeClr val="dk1"/>
              </a:solidFill>
              <a:latin typeface="+mn-lt"/>
              <a:ea typeface="+mn-ea"/>
              <a:cs typeface="+mn-cs"/>
            </a:endParaRPr>
          </a:p>
          <a:p>
            <a:r>
              <a:rPr lang="en-US" dirty="0" err="1">
                <a:solidFill>
                  <a:schemeClr val="dk1"/>
                </a:solidFill>
                <a:latin typeface="+mn-lt"/>
                <a:ea typeface="+mn-ea"/>
                <a:cs typeface="+mn-cs"/>
              </a:rPr>
              <a:t>availableQty:int</a:t>
            </a:r>
            <a:endParaRPr lang="en-US" dirty="0"/>
          </a:p>
          <a:p>
            <a:endParaRPr lang="en-US" dirty="0">
              <a:solidFill>
                <a:schemeClr val="dk1"/>
              </a:solidFill>
              <a:latin typeface="+mn-lt"/>
              <a:ea typeface="+mn-ea"/>
              <a:cs typeface="+mn-cs"/>
            </a:endParaRPr>
          </a:p>
          <a:p>
            <a:r>
              <a:rPr lang="en-US" dirty="0" err="1">
                <a:solidFill>
                  <a:schemeClr val="dk1"/>
                </a:solidFill>
                <a:latin typeface="+mn-lt"/>
                <a:ea typeface="+mn-ea"/>
                <a:cs typeface="+mn-cs"/>
              </a:rPr>
              <a:t>updateStock:void</a:t>
            </a:r>
            <a:r>
              <a:rPr lang="en-US" dirty="0">
                <a:solidFill>
                  <a:schemeClr val="dk1"/>
                </a:solidFill>
                <a:latin typeface="+mn-lt"/>
                <a:ea typeface="+mn-ea"/>
                <a:cs typeface="+mn-cs"/>
              </a:rPr>
              <a:t>()</a:t>
            </a:r>
          </a:p>
          <a:p>
            <a:endParaRPr lang="en-IN" dirty="0">
              <a:solidFill>
                <a:schemeClr val="dk1"/>
              </a:solidFill>
              <a:latin typeface="+mn-lt"/>
              <a:ea typeface="+mn-ea"/>
              <a:cs typeface="+mn-cs"/>
            </a:endParaRPr>
          </a:p>
        </p:txBody>
      </p:sp>
      <p:cxnSp>
        <p:nvCxnSpPr>
          <p:cNvPr id="3" name="Straight Connector 2">
            <a:extLst>
              <a:ext uri="{FF2B5EF4-FFF2-40B4-BE49-F238E27FC236}">
                <a16:creationId xmlns:a16="http://schemas.microsoft.com/office/drawing/2014/main" id="{DC67D2F4-69CC-C1A1-8877-87A8A7AD961F}"/>
              </a:ext>
            </a:extLst>
          </p:cNvPr>
          <p:cNvCxnSpPr>
            <a:cxnSpLocks/>
          </p:cNvCxnSpPr>
          <p:nvPr/>
        </p:nvCxnSpPr>
        <p:spPr>
          <a:xfrm>
            <a:off x="1524000" y="2209800"/>
            <a:ext cx="2667000"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F449B0FC-BD9D-BEBE-B506-864AF61873EF}"/>
              </a:ext>
            </a:extLst>
          </p:cNvPr>
          <p:cNvCxnSpPr>
            <a:cxnSpLocks/>
          </p:cNvCxnSpPr>
          <p:nvPr/>
        </p:nvCxnSpPr>
        <p:spPr>
          <a:xfrm>
            <a:off x="1524000" y="2996184"/>
            <a:ext cx="266700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353748B-4EE8-E6FA-D2B5-4950C175FD69}"/>
              </a:ext>
            </a:extLst>
          </p:cNvPr>
          <p:cNvCxnSpPr>
            <a:cxnSpLocks/>
          </p:cNvCxnSpPr>
          <p:nvPr/>
        </p:nvCxnSpPr>
        <p:spPr>
          <a:xfrm>
            <a:off x="5181600" y="1981200"/>
            <a:ext cx="2667000"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1AA43BEC-8360-5642-207F-2A465F03CFFE}"/>
              </a:ext>
            </a:extLst>
          </p:cNvPr>
          <p:cNvCxnSpPr>
            <a:cxnSpLocks/>
          </p:cNvCxnSpPr>
          <p:nvPr/>
        </p:nvCxnSpPr>
        <p:spPr>
          <a:xfrm>
            <a:off x="5181600" y="3124200"/>
            <a:ext cx="2667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1855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9C932F-7565-C2B0-520F-C3B413F4B226}"/>
              </a:ext>
            </a:extLst>
          </p:cNvPr>
          <p:cNvSpPr/>
          <p:nvPr/>
        </p:nvSpPr>
        <p:spPr>
          <a:xfrm>
            <a:off x="1828800" y="1524000"/>
            <a:ext cx="4191000" cy="33527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b="1" dirty="0">
                <a:solidFill>
                  <a:schemeClr val="dk1"/>
                </a:solidFill>
                <a:latin typeface="+mn-lt"/>
                <a:ea typeface="+mn-ea"/>
                <a:cs typeface="+mn-cs"/>
              </a:rPr>
              <a:t>               </a:t>
            </a:r>
            <a:r>
              <a:rPr lang="en-IN" b="1" dirty="0" err="1">
                <a:solidFill>
                  <a:schemeClr val="dk1"/>
                </a:solidFill>
                <a:latin typeface="+mn-lt"/>
                <a:ea typeface="+mn-ea"/>
                <a:cs typeface="+mn-cs"/>
              </a:rPr>
              <a:t>RawMaterialOrder</a:t>
            </a:r>
            <a:endParaRPr lang="en-IN" b="1" dirty="0">
              <a:solidFill>
                <a:schemeClr val="dk1"/>
              </a:solidFill>
              <a:latin typeface="+mn-lt"/>
              <a:ea typeface="+mn-ea"/>
              <a:cs typeface="+mn-cs"/>
            </a:endParaRPr>
          </a:p>
          <a:p>
            <a:endParaRPr lang="en-IN" dirty="0">
              <a:solidFill>
                <a:schemeClr val="dk1"/>
              </a:solidFill>
              <a:latin typeface="+mn-lt"/>
              <a:ea typeface="+mn-ea"/>
              <a:cs typeface="+mn-cs"/>
            </a:endParaRPr>
          </a:p>
          <a:p>
            <a:r>
              <a:rPr lang="en-IN" dirty="0" err="1">
                <a:solidFill>
                  <a:schemeClr val="dk1"/>
                </a:solidFill>
                <a:latin typeface="+mn-lt"/>
                <a:ea typeface="+mn-ea"/>
                <a:cs typeface="+mn-cs"/>
              </a:rPr>
              <a:t>rawOrderId:int</a:t>
            </a:r>
            <a:endParaRPr lang="en-IN" dirty="0">
              <a:solidFill>
                <a:schemeClr val="dk1"/>
              </a:solidFill>
              <a:latin typeface="+mn-lt"/>
              <a:ea typeface="+mn-ea"/>
              <a:cs typeface="+mn-cs"/>
            </a:endParaRPr>
          </a:p>
          <a:p>
            <a:r>
              <a:rPr lang="en-IN" dirty="0" err="1">
                <a:solidFill>
                  <a:schemeClr val="dk1"/>
                </a:solidFill>
                <a:latin typeface="+mn-lt"/>
                <a:ea typeface="+mn-ea"/>
                <a:cs typeface="+mn-cs"/>
              </a:rPr>
              <a:t>orderDate:int</a:t>
            </a:r>
            <a:endParaRPr lang="en-IN" dirty="0">
              <a:solidFill>
                <a:schemeClr val="dk1"/>
              </a:solidFill>
              <a:latin typeface="+mn-lt"/>
              <a:ea typeface="+mn-ea"/>
              <a:cs typeface="+mn-cs"/>
            </a:endParaRPr>
          </a:p>
          <a:p>
            <a:r>
              <a:rPr lang="en-IN" dirty="0" err="1">
                <a:solidFill>
                  <a:schemeClr val="dk1"/>
                </a:solidFill>
                <a:latin typeface="+mn-lt"/>
                <a:ea typeface="+mn-ea"/>
                <a:cs typeface="+mn-cs"/>
              </a:rPr>
              <a:t>totalAmount:double</a:t>
            </a:r>
            <a:endParaRPr lang="en-IN" dirty="0">
              <a:solidFill>
                <a:schemeClr val="dk1"/>
              </a:solidFill>
              <a:latin typeface="+mn-lt"/>
              <a:ea typeface="+mn-ea"/>
              <a:cs typeface="+mn-cs"/>
            </a:endParaRPr>
          </a:p>
          <a:p>
            <a:r>
              <a:rPr lang="en-IN" dirty="0" err="1">
                <a:solidFill>
                  <a:schemeClr val="dk1"/>
                </a:solidFill>
                <a:latin typeface="+mn-lt"/>
                <a:ea typeface="+mn-ea"/>
                <a:cs typeface="+mn-cs"/>
              </a:rPr>
              <a:t>Status:string</a:t>
            </a:r>
            <a:endParaRPr lang="en-IN" dirty="0">
              <a:solidFill>
                <a:schemeClr val="dk1"/>
              </a:solidFill>
              <a:latin typeface="+mn-lt"/>
              <a:ea typeface="+mn-ea"/>
              <a:cs typeface="+mn-cs"/>
            </a:endParaRPr>
          </a:p>
          <a:p>
            <a:endParaRPr lang="en-IN" dirty="0">
              <a:solidFill>
                <a:schemeClr val="dk1"/>
              </a:solidFill>
              <a:latin typeface="+mn-lt"/>
              <a:ea typeface="+mn-ea"/>
              <a:cs typeface="+mn-cs"/>
            </a:endParaRPr>
          </a:p>
          <a:p>
            <a:r>
              <a:rPr lang="en-IN" dirty="0" err="1">
                <a:solidFill>
                  <a:schemeClr val="dk1"/>
                </a:solidFill>
                <a:latin typeface="+mn-lt"/>
                <a:ea typeface="+mn-ea"/>
                <a:cs typeface="+mn-cs"/>
              </a:rPr>
              <a:t>placeRawMaterialOrder:void</a:t>
            </a:r>
            <a:r>
              <a:rPr lang="en-IN" dirty="0">
                <a:solidFill>
                  <a:schemeClr val="dk1"/>
                </a:solidFill>
                <a:latin typeface="+mn-lt"/>
                <a:ea typeface="+mn-ea"/>
                <a:cs typeface="+mn-cs"/>
              </a:rPr>
              <a:t>()</a:t>
            </a:r>
          </a:p>
          <a:p>
            <a:r>
              <a:rPr lang="en-IN" dirty="0" err="1">
                <a:solidFill>
                  <a:schemeClr val="dk1"/>
                </a:solidFill>
                <a:latin typeface="+mn-lt"/>
                <a:ea typeface="+mn-ea"/>
                <a:cs typeface="+mn-cs"/>
              </a:rPr>
              <a:t>updateRawOrderStatus:void</a:t>
            </a:r>
            <a:r>
              <a:rPr lang="en-IN" dirty="0">
                <a:solidFill>
                  <a:schemeClr val="dk1"/>
                </a:solidFill>
                <a:latin typeface="+mn-lt"/>
                <a:ea typeface="+mn-ea"/>
                <a:cs typeface="+mn-cs"/>
              </a:rPr>
              <a:t>()</a:t>
            </a:r>
          </a:p>
        </p:txBody>
      </p:sp>
      <p:cxnSp>
        <p:nvCxnSpPr>
          <p:cNvPr id="3" name="Straight Connector 2">
            <a:extLst>
              <a:ext uri="{FF2B5EF4-FFF2-40B4-BE49-F238E27FC236}">
                <a16:creationId xmlns:a16="http://schemas.microsoft.com/office/drawing/2014/main" id="{9E04745A-E62C-3B93-B408-A54A8316A269}"/>
              </a:ext>
            </a:extLst>
          </p:cNvPr>
          <p:cNvCxnSpPr>
            <a:cxnSpLocks/>
          </p:cNvCxnSpPr>
          <p:nvPr/>
        </p:nvCxnSpPr>
        <p:spPr>
          <a:xfrm>
            <a:off x="1828800" y="2362200"/>
            <a:ext cx="4191000"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C94B0B9D-395E-121A-436F-F01FEE22EC58}"/>
              </a:ext>
            </a:extLst>
          </p:cNvPr>
          <p:cNvCxnSpPr>
            <a:cxnSpLocks/>
          </p:cNvCxnSpPr>
          <p:nvPr/>
        </p:nvCxnSpPr>
        <p:spPr>
          <a:xfrm>
            <a:off x="1828800" y="3657600"/>
            <a:ext cx="4191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57840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7FE72-14E8-8F89-DD52-D159CC312EF7}"/>
              </a:ext>
            </a:extLst>
          </p:cNvPr>
          <p:cNvSpPr>
            <a:spLocks noGrp="1"/>
          </p:cNvSpPr>
          <p:nvPr>
            <p:ph type="title"/>
          </p:nvPr>
        </p:nvSpPr>
        <p:spPr>
          <a:xfrm>
            <a:off x="3124200" y="551435"/>
            <a:ext cx="2730119" cy="743966"/>
          </a:xfrm>
        </p:spPr>
        <p:txBody>
          <a:bodyPr/>
          <a:lstStyle/>
          <a:p>
            <a:r>
              <a:rPr lang="en-US" dirty="0"/>
              <a:t>ER Diagrams</a:t>
            </a:r>
            <a:endParaRPr lang="en-IN" dirty="0"/>
          </a:p>
        </p:txBody>
      </p:sp>
      <p:sp>
        <p:nvSpPr>
          <p:cNvPr id="3" name="Text Placeholder 2">
            <a:extLst>
              <a:ext uri="{FF2B5EF4-FFF2-40B4-BE49-F238E27FC236}">
                <a16:creationId xmlns:a16="http://schemas.microsoft.com/office/drawing/2014/main" id="{8C3AA9C3-B143-6AFA-32AD-37CAF7217FCF}"/>
              </a:ext>
            </a:extLst>
          </p:cNvPr>
          <p:cNvSpPr>
            <a:spLocks noGrp="1"/>
          </p:cNvSpPr>
          <p:nvPr>
            <p:ph type="body" idx="1"/>
          </p:nvPr>
        </p:nvSpPr>
        <p:spPr>
          <a:xfrm>
            <a:off x="1981200" y="2819400"/>
            <a:ext cx="6313804" cy="1094676"/>
          </a:xfrm>
        </p:spPr>
        <p:txBody>
          <a:bodyPr/>
          <a:lstStyle/>
          <a:p>
            <a:endParaRPr lang="en-IN" dirty="0"/>
          </a:p>
        </p:txBody>
      </p:sp>
      <p:pic>
        <p:nvPicPr>
          <p:cNvPr id="5" name="Picture 4">
            <a:extLst>
              <a:ext uri="{FF2B5EF4-FFF2-40B4-BE49-F238E27FC236}">
                <a16:creationId xmlns:a16="http://schemas.microsoft.com/office/drawing/2014/main" id="{96FA5178-7EF2-EFCC-EC40-874C62056D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99" y="1600200"/>
            <a:ext cx="7616443" cy="4419599"/>
          </a:xfrm>
          <a:prstGeom prst="rect">
            <a:avLst/>
          </a:prstGeom>
        </p:spPr>
      </p:pic>
    </p:spTree>
    <p:extLst>
      <p:ext uri="{BB962C8B-B14F-4D97-AF65-F5344CB8AC3E}">
        <p14:creationId xmlns:p14="http://schemas.microsoft.com/office/powerpoint/2010/main" val="3354456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AC404-4E21-632F-D44C-23A5EBA7B9A5}"/>
              </a:ext>
            </a:extLst>
          </p:cNvPr>
          <p:cNvSpPr>
            <a:spLocks noGrp="1"/>
          </p:cNvSpPr>
          <p:nvPr>
            <p:ph type="title"/>
          </p:nvPr>
        </p:nvSpPr>
        <p:spPr>
          <a:xfrm>
            <a:off x="2438400" y="551434"/>
            <a:ext cx="3415919" cy="553998"/>
          </a:xfrm>
        </p:spPr>
        <p:txBody>
          <a:bodyPr/>
          <a:lstStyle/>
          <a:p>
            <a:r>
              <a:rPr lang="en-US" dirty="0"/>
              <a:t>Schema Diagram</a:t>
            </a:r>
            <a:endParaRPr lang="en-IN" dirty="0"/>
          </a:p>
        </p:txBody>
      </p:sp>
      <p:sp>
        <p:nvSpPr>
          <p:cNvPr id="3" name="Text Placeholder 2">
            <a:extLst>
              <a:ext uri="{FF2B5EF4-FFF2-40B4-BE49-F238E27FC236}">
                <a16:creationId xmlns:a16="http://schemas.microsoft.com/office/drawing/2014/main" id="{3758AA0F-7697-9B4F-FFE6-3CB48AC0D184}"/>
              </a:ext>
            </a:extLst>
          </p:cNvPr>
          <p:cNvSpPr>
            <a:spLocks noGrp="1"/>
          </p:cNvSpPr>
          <p:nvPr>
            <p:ph type="body" idx="1"/>
          </p:nvPr>
        </p:nvSpPr>
        <p:spPr>
          <a:xfrm>
            <a:off x="3352801" y="3124200"/>
            <a:ext cx="1981200" cy="1749425"/>
          </a:xfrm>
        </p:spPr>
        <p:txBody>
          <a:bodyPr/>
          <a:lstStyle/>
          <a:p>
            <a:endParaRPr lang="en-IN" dirty="0"/>
          </a:p>
        </p:txBody>
      </p:sp>
      <p:pic>
        <p:nvPicPr>
          <p:cNvPr id="7" name="Picture 6">
            <a:extLst>
              <a:ext uri="{FF2B5EF4-FFF2-40B4-BE49-F238E27FC236}">
                <a16:creationId xmlns:a16="http://schemas.microsoft.com/office/drawing/2014/main" id="{8696E95A-37C2-90A8-F526-DF751558AC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447800"/>
            <a:ext cx="7200900" cy="4419600"/>
          </a:xfrm>
          <a:prstGeom prst="rect">
            <a:avLst/>
          </a:prstGeom>
        </p:spPr>
      </p:pic>
      <p:sp>
        <p:nvSpPr>
          <p:cNvPr id="4" name="Rectangle 3">
            <a:extLst>
              <a:ext uri="{FF2B5EF4-FFF2-40B4-BE49-F238E27FC236}">
                <a16:creationId xmlns:a16="http://schemas.microsoft.com/office/drawing/2014/main" id="{0D0B08C2-10BB-9549-0B68-65A2CCEABF64}"/>
              </a:ext>
            </a:extLst>
          </p:cNvPr>
          <p:cNvSpPr/>
          <p:nvPr/>
        </p:nvSpPr>
        <p:spPr>
          <a:xfrm>
            <a:off x="5105400" y="2895600"/>
            <a:ext cx="228601" cy="76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577EED6C-4A36-CEF1-A4B5-8037F2B413AA}"/>
              </a:ext>
            </a:extLst>
          </p:cNvPr>
          <p:cNvSpPr/>
          <p:nvPr/>
        </p:nvSpPr>
        <p:spPr>
          <a:xfrm>
            <a:off x="2324099" y="4724400"/>
            <a:ext cx="228601" cy="76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1E00B78-F44A-067F-8ED0-818D462DD961}"/>
              </a:ext>
            </a:extLst>
          </p:cNvPr>
          <p:cNvSpPr/>
          <p:nvPr/>
        </p:nvSpPr>
        <p:spPr>
          <a:xfrm>
            <a:off x="5029200" y="4572000"/>
            <a:ext cx="304801" cy="76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C0686AF-AA4C-092B-5BFC-FD7FE7E2A249}"/>
              </a:ext>
            </a:extLst>
          </p:cNvPr>
          <p:cNvSpPr/>
          <p:nvPr/>
        </p:nvSpPr>
        <p:spPr>
          <a:xfrm>
            <a:off x="5048250" y="4873625"/>
            <a:ext cx="304801" cy="6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D73B0582-0C0B-5CD1-1755-8B0D38A196D4}"/>
              </a:ext>
            </a:extLst>
          </p:cNvPr>
          <p:cNvSpPr/>
          <p:nvPr/>
        </p:nvSpPr>
        <p:spPr>
          <a:xfrm>
            <a:off x="5105400" y="3159125"/>
            <a:ext cx="228601" cy="76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8D5093B-3014-BF9D-73DD-DF503A1AFA92}"/>
              </a:ext>
            </a:extLst>
          </p:cNvPr>
          <p:cNvSpPr/>
          <p:nvPr/>
        </p:nvSpPr>
        <p:spPr>
          <a:xfrm>
            <a:off x="5000624" y="5284255"/>
            <a:ext cx="485776" cy="89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696FF884-A8C0-89D2-8A61-724D5FE59709}"/>
              </a:ext>
            </a:extLst>
          </p:cNvPr>
          <p:cNvSpPr/>
          <p:nvPr/>
        </p:nvSpPr>
        <p:spPr>
          <a:xfrm>
            <a:off x="7597775" y="2895600"/>
            <a:ext cx="457200" cy="152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F89F071C-280F-4DA4-BDB6-F072ED4A8E8C}"/>
              </a:ext>
            </a:extLst>
          </p:cNvPr>
          <p:cNvSpPr/>
          <p:nvPr/>
        </p:nvSpPr>
        <p:spPr>
          <a:xfrm>
            <a:off x="7086600" y="3581400"/>
            <a:ext cx="990599" cy="76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4C305595-2E05-3253-6E51-2E9B89AD7FD8}"/>
              </a:ext>
            </a:extLst>
          </p:cNvPr>
          <p:cNvSpPr/>
          <p:nvPr/>
        </p:nvSpPr>
        <p:spPr>
          <a:xfrm>
            <a:off x="7515225" y="3313908"/>
            <a:ext cx="511175" cy="76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169FE5C2-8309-4179-ACF2-13F2CA223E36}"/>
              </a:ext>
            </a:extLst>
          </p:cNvPr>
          <p:cNvSpPr/>
          <p:nvPr/>
        </p:nvSpPr>
        <p:spPr>
          <a:xfrm>
            <a:off x="7473951" y="4788955"/>
            <a:ext cx="146049" cy="1251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9FD919E2-E5A2-A045-06CE-364B3D02DB65}"/>
              </a:ext>
            </a:extLst>
          </p:cNvPr>
          <p:cNvSpPr/>
          <p:nvPr/>
        </p:nvSpPr>
        <p:spPr>
          <a:xfrm>
            <a:off x="7013575" y="4948237"/>
            <a:ext cx="146049" cy="1251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F8911FB8-99A5-984C-0B28-2E5523F041F3}"/>
              </a:ext>
            </a:extLst>
          </p:cNvPr>
          <p:cNvSpPr/>
          <p:nvPr/>
        </p:nvSpPr>
        <p:spPr>
          <a:xfrm>
            <a:off x="3628929" y="5084105"/>
            <a:ext cx="488759" cy="1108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FBCF2F26-0304-07D7-CB1A-45E14B37C713}"/>
              </a:ext>
            </a:extLst>
          </p:cNvPr>
          <p:cNvSpPr/>
          <p:nvPr/>
        </p:nvSpPr>
        <p:spPr>
          <a:xfrm>
            <a:off x="3841558" y="5310051"/>
            <a:ext cx="228601" cy="76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35122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57AEC-9911-3057-6717-5DA38F5A8F66}"/>
              </a:ext>
            </a:extLst>
          </p:cNvPr>
          <p:cNvSpPr>
            <a:spLocks noGrp="1"/>
          </p:cNvSpPr>
          <p:nvPr>
            <p:ph type="title"/>
          </p:nvPr>
        </p:nvSpPr>
        <p:spPr>
          <a:xfrm>
            <a:off x="1219200" y="551434"/>
            <a:ext cx="4635119" cy="1661993"/>
          </a:xfrm>
        </p:spPr>
        <p:txBody>
          <a:bodyPr/>
          <a:lstStyle/>
          <a:p>
            <a:r>
              <a:rPr lang="en-GB" dirty="0"/>
              <a:t>IMPLEMENTATION </a:t>
            </a:r>
            <a:endParaRPr lang="en-IN" dirty="0"/>
          </a:p>
        </p:txBody>
      </p:sp>
      <p:pic>
        <p:nvPicPr>
          <p:cNvPr id="9" name="Picture 8">
            <a:extLst>
              <a:ext uri="{FF2B5EF4-FFF2-40B4-BE49-F238E27FC236}">
                <a16:creationId xmlns:a16="http://schemas.microsoft.com/office/drawing/2014/main" id="{6AB7CF6A-14C8-2C40-C0B1-B9BDB7366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6049" y="1447800"/>
            <a:ext cx="5391902" cy="4667901"/>
          </a:xfrm>
          <a:prstGeom prst="rect">
            <a:avLst/>
          </a:prstGeom>
        </p:spPr>
      </p:pic>
    </p:spTree>
    <p:extLst>
      <p:ext uri="{BB962C8B-B14F-4D97-AF65-F5344CB8AC3E}">
        <p14:creationId xmlns:p14="http://schemas.microsoft.com/office/powerpoint/2010/main" val="456538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868CEF-8914-7175-906B-97299DB99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066800"/>
            <a:ext cx="5611008" cy="4715533"/>
          </a:xfrm>
          <a:prstGeom prst="rect">
            <a:avLst/>
          </a:prstGeom>
        </p:spPr>
      </p:pic>
    </p:spTree>
    <p:extLst>
      <p:ext uri="{BB962C8B-B14F-4D97-AF65-F5344CB8AC3E}">
        <p14:creationId xmlns:p14="http://schemas.microsoft.com/office/powerpoint/2010/main" val="310111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B5B35B-063F-E440-57E9-CCEEDF0158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2233" y="1071233"/>
            <a:ext cx="5439534" cy="4715533"/>
          </a:xfrm>
          <a:prstGeom prst="rect">
            <a:avLst/>
          </a:prstGeom>
        </p:spPr>
      </p:pic>
    </p:spTree>
    <p:extLst>
      <p:ext uri="{BB962C8B-B14F-4D97-AF65-F5344CB8AC3E}">
        <p14:creationId xmlns:p14="http://schemas.microsoft.com/office/powerpoint/2010/main" val="1755568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8E90133-6501-1BF6-91C7-C76FD9EB59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537" y="609600"/>
            <a:ext cx="8534400" cy="5467238"/>
          </a:xfrm>
          <a:prstGeom prst="rect">
            <a:avLst/>
          </a:prstGeom>
        </p:spPr>
      </p:pic>
    </p:spTree>
    <p:extLst>
      <p:ext uri="{BB962C8B-B14F-4D97-AF65-F5344CB8AC3E}">
        <p14:creationId xmlns:p14="http://schemas.microsoft.com/office/powerpoint/2010/main" val="4033140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73BB0A-40C2-5B84-D683-6AF4C8168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677389"/>
            <a:ext cx="8991600" cy="5503222"/>
          </a:xfrm>
          <a:prstGeom prst="rect">
            <a:avLst/>
          </a:prstGeom>
        </p:spPr>
      </p:pic>
    </p:spTree>
    <p:extLst>
      <p:ext uri="{BB962C8B-B14F-4D97-AF65-F5344CB8AC3E}">
        <p14:creationId xmlns:p14="http://schemas.microsoft.com/office/powerpoint/2010/main" val="14365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F37646-D054-03E2-23A3-F4116C434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714000"/>
            <a:ext cx="8763000" cy="5430000"/>
          </a:xfrm>
          <a:prstGeom prst="rect">
            <a:avLst/>
          </a:prstGeom>
        </p:spPr>
      </p:pic>
    </p:spTree>
    <p:extLst>
      <p:ext uri="{BB962C8B-B14F-4D97-AF65-F5344CB8AC3E}">
        <p14:creationId xmlns:p14="http://schemas.microsoft.com/office/powerpoint/2010/main" val="2992009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D05C7-0C46-6E0C-FDB5-A55A3529D9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52400"/>
            <a:ext cx="6781800" cy="3534184"/>
          </a:xfrm>
          <a:prstGeom prst="rect">
            <a:avLst/>
          </a:prstGeom>
        </p:spPr>
      </p:pic>
      <p:pic>
        <p:nvPicPr>
          <p:cNvPr id="7" name="Picture 6">
            <a:extLst>
              <a:ext uri="{FF2B5EF4-FFF2-40B4-BE49-F238E27FC236}">
                <a16:creationId xmlns:a16="http://schemas.microsoft.com/office/drawing/2014/main" id="{47A040A6-1BD5-9789-ABFD-8517FA0CD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3686584"/>
            <a:ext cx="6781800" cy="3171416"/>
          </a:xfrm>
          <a:prstGeom prst="rect">
            <a:avLst/>
          </a:prstGeom>
        </p:spPr>
      </p:pic>
    </p:spTree>
    <p:extLst>
      <p:ext uri="{BB962C8B-B14F-4D97-AF65-F5344CB8AC3E}">
        <p14:creationId xmlns:p14="http://schemas.microsoft.com/office/powerpoint/2010/main" val="978284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649D-3EBE-56AB-4B5F-95027A5C85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67638"/>
            <a:ext cx="3962400" cy="3361362"/>
          </a:xfrm>
          <a:prstGeom prst="rect">
            <a:avLst/>
          </a:prstGeom>
        </p:spPr>
      </p:pic>
      <p:pic>
        <p:nvPicPr>
          <p:cNvPr id="7" name="Picture 6">
            <a:extLst>
              <a:ext uri="{FF2B5EF4-FFF2-40B4-BE49-F238E27FC236}">
                <a16:creationId xmlns:a16="http://schemas.microsoft.com/office/drawing/2014/main" id="{CE2F60E4-44F0-C26E-6C6B-C08CD53F28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4610" y="-12032"/>
            <a:ext cx="3940140" cy="3361362"/>
          </a:xfrm>
          <a:prstGeom prst="rect">
            <a:avLst/>
          </a:prstGeom>
        </p:spPr>
      </p:pic>
      <p:pic>
        <p:nvPicPr>
          <p:cNvPr id="9" name="Picture 8">
            <a:extLst>
              <a:ext uri="{FF2B5EF4-FFF2-40B4-BE49-F238E27FC236}">
                <a16:creationId xmlns:a16="http://schemas.microsoft.com/office/drawing/2014/main" id="{AAEFF128-12E9-9C4B-F608-F0225880BC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649" y="3494311"/>
            <a:ext cx="3867499" cy="3387752"/>
          </a:xfrm>
          <a:prstGeom prst="rect">
            <a:avLst/>
          </a:prstGeom>
        </p:spPr>
      </p:pic>
      <p:pic>
        <p:nvPicPr>
          <p:cNvPr id="11" name="Picture 10">
            <a:extLst>
              <a:ext uri="{FF2B5EF4-FFF2-40B4-BE49-F238E27FC236}">
                <a16:creationId xmlns:a16="http://schemas.microsoft.com/office/drawing/2014/main" id="{F58BE1A0-8FFA-1520-88A0-2B303ACB19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3239" y="3486290"/>
            <a:ext cx="3867500" cy="3345964"/>
          </a:xfrm>
          <a:prstGeom prst="rect">
            <a:avLst/>
          </a:prstGeom>
        </p:spPr>
      </p:pic>
    </p:spTree>
    <p:extLst>
      <p:ext uri="{BB962C8B-B14F-4D97-AF65-F5344CB8AC3E}">
        <p14:creationId xmlns:p14="http://schemas.microsoft.com/office/powerpoint/2010/main" val="1615095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CC28487-75B8-B966-3E90-BF93FB98A2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381000"/>
            <a:ext cx="8534400" cy="5709764"/>
          </a:xfrm>
          <a:prstGeom prst="rect">
            <a:avLst/>
          </a:prstGeom>
        </p:spPr>
      </p:pic>
    </p:spTree>
    <p:extLst>
      <p:ext uri="{BB962C8B-B14F-4D97-AF65-F5344CB8AC3E}">
        <p14:creationId xmlns:p14="http://schemas.microsoft.com/office/powerpoint/2010/main" val="766553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680DD0-92B4-17A2-32BA-84927A7968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2032"/>
            <a:ext cx="7543800" cy="3468666"/>
          </a:xfrm>
          <a:prstGeom prst="rect">
            <a:avLst/>
          </a:prstGeom>
        </p:spPr>
      </p:pic>
      <p:pic>
        <p:nvPicPr>
          <p:cNvPr id="7" name="Picture 6">
            <a:extLst>
              <a:ext uri="{FF2B5EF4-FFF2-40B4-BE49-F238E27FC236}">
                <a16:creationId xmlns:a16="http://schemas.microsoft.com/office/drawing/2014/main" id="{4524BD4F-42EE-35B4-F10E-2ADFFE3D20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3886200"/>
            <a:ext cx="7543800" cy="2633723"/>
          </a:xfrm>
          <a:prstGeom prst="rect">
            <a:avLst/>
          </a:prstGeom>
        </p:spPr>
      </p:pic>
    </p:spTree>
    <p:extLst>
      <p:ext uri="{BB962C8B-B14F-4D97-AF65-F5344CB8AC3E}">
        <p14:creationId xmlns:p14="http://schemas.microsoft.com/office/powerpoint/2010/main" val="776224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806658-D81D-32E7-080E-B808CF0A39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79" y="0"/>
            <a:ext cx="8686800" cy="2620159"/>
          </a:xfrm>
          <a:prstGeom prst="rect">
            <a:avLst/>
          </a:prstGeom>
        </p:spPr>
      </p:pic>
      <p:pic>
        <p:nvPicPr>
          <p:cNvPr id="7" name="Picture 6">
            <a:extLst>
              <a:ext uri="{FF2B5EF4-FFF2-40B4-BE49-F238E27FC236}">
                <a16:creationId xmlns:a16="http://schemas.microsoft.com/office/drawing/2014/main" id="{05ACE6CF-935E-5C8D-CCDF-6A099AEDF3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379" y="2971800"/>
            <a:ext cx="8534400" cy="3335584"/>
          </a:xfrm>
          <a:prstGeom prst="rect">
            <a:avLst/>
          </a:prstGeom>
        </p:spPr>
      </p:pic>
    </p:spTree>
    <p:extLst>
      <p:ext uri="{BB962C8B-B14F-4D97-AF65-F5344CB8AC3E}">
        <p14:creationId xmlns:p14="http://schemas.microsoft.com/office/powerpoint/2010/main" val="714001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87C220-848E-F39A-3C3F-AE6BEA38F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76200"/>
            <a:ext cx="8439786" cy="6268325"/>
          </a:xfrm>
          <a:prstGeom prst="rect">
            <a:avLst/>
          </a:prstGeom>
        </p:spPr>
      </p:pic>
    </p:spTree>
    <p:extLst>
      <p:ext uri="{BB962C8B-B14F-4D97-AF65-F5344CB8AC3E}">
        <p14:creationId xmlns:p14="http://schemas.microsoft.com/office/powerpoint/2010/main" val="2601102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C31432-30AF-2A4E-0BBC-AD51233099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37" y="152400"/>
            <a:ext cx="6992326" cy="2600720"/>
          </a:xfrm>
          <a:prstGeom prst="rect">
            <a:avLst/>
          </a:prstGeom>
        </p:spPr>
      </p:pic>
      <p:pic>
        <p:nvPicPr>
          <p:cNvPr id="7" name="Picture 6">
            <a:extLst>
              <a:ext uri="{FF2B5EF4-FFF2-40B4-BE49-F238E27FC236}">
                <a16:creationId xmlns:a16="http://schemas.microsoft.com/office/drawing/2014/main" id="{87CBD203-75C1-0AD8-CD4F-A18ABDC45C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890" y="3047999"/>
            <a:ext cx="6954220" cy="3157925"/>
          </a:xfrm>
          <a:prstGeom prst="rect">
            <a:avLst/>
          </a:prstGeom>
        </p:spPr>
      </p:pic>
    </p:spTree>
    <p:extLst>
      <p:ext uri="{BB962C8B-B14F-4D97-AF65-F5344CB8AC3E}">
        <p14:creationId xmlns:p14="http://schemas.microsoft.com/office/powerpoint/2010/main" val="2402719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096D75E-199C-C097-CA7B-7749C88616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990600"/>
            <a:ext cx="5763429" cy="3667637"/>
          </a:xfrm>
          <a:prstGeom prst="rect">
            <a:avLst/>
          </a:prstGeom>
        </p:spPr>
      </p:pic>
    </p:spTree>
    <p:extLst>
      <p:ext uri="{BB962C8B-B14F-4D97-AF65-F5344CB8AC3E}">
        <p14:creationId xmlns:p14="http://schemas.microsoft.com/office/powerpoint/2010/main" val="13576542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957C6-0CEB-D9FC-2768-FD9214470D66}"/>
              </a:ext>
            </a:extLst>
          </p:cNvPr>
          <p:cNvSpPr>
            <a:spLocks noGrp="1"/>
          </p:cNvSpPr>
          <p:nvPr>
            <p:ph type="title"/>
          </p:nvPr>
        </p:nvSpPr>
        <p:spPr>
          <a:xfrm>
            <a:off x="848996" y="381000"/>
            <a:ext cx="2502281" cy="1107996"/>
          </a:xfrm>
        </p:spPr>
        <p:txBody>
          <a:bodyPr/>
          <a:lstStyle/>
          <a:p>
            <a:r>
              <a:rPr lang="en-GB" dirty="0"/>
              <a:t>CODING:</a:t>
            </a:r>
            <a:endParaRPr lang="en-IN" dirty="0"/>
          </a:p>
        </p:txBody>
      </p:sp>
      <p:sp>
        <p:nvSpPr>
          <p:cNvPr id="8" name="Text Placeholder 7">
            <a:extLst>
              <a:ext uri="{FF2B5EF4-FFF2-40B4-BE49-F238E27FC236}">
                <a16:creationId xmlns:a16="http://schemas.microsoft.com/office/drawing/2014/main" id="{1C59AE4C-2B63-5106-7A09-2BBCD827DA21}"/>
              </a:ext>
            </a:extLst>
          </p:cNvPr>
          <p:cNvSpPr>
            <a:spLocks noGrp="1"/>
          </p:cNvSpPr>
          <p:nvPr>
            <p:ph type="body" idx="1"/>
          </p:nvPr>
        </p:nvSpPr>
        <p:spPr>
          <a:xfrm>
            <a:off x="1219200" y="2514600"/>
            <a:ext cx="7454265" cy="369332"/>
          </a:xfrm>
        </p:spPr>
        <p:txBody>
          <a:bodyPr/>
          <a:lstStyle/>
          <a:p>
            <a:r>
              <a:rPr lang="en-GB" dirty="0">
                <a:hlinkClick r:id="rId2" action="ppaction://hlinkfile"/>
              </a:rPr>
              <a:t>PROJECTS\MINI PROJECT\SEM 4\FULL CODE.docx</a:t>
            </a:r>
            <a:endParaRPr lang="en-IN" dirty="0"/>
          </a:p>
        </p:txBody>
      </p:sp>
    </p:spTree>
    <p:extLst>
      <p:ext uri="{BB962C8B-B14F-4D97-AF65-F5344CB8AC3E}">
        <p14:creationId xmlns:p14="http://schemas.microsoft.com/office/powerpoint/2010/main" val="308325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7ED5B-34E3-DB8B-2CA7-2F81F545A4AF}"/>
              </a:ext>
            </a:extLst>
          </p:cNvPr>
          <p:cNvSpPr>
            <a:spLocks noGrp="1"/>
          </p:cNvSpPr>
          <p:nvPr>
            <p:ph type="title"/>
          </p:nvPr>
        </p:nvSpPr>
        <p:spPr>
          <a:xfrm>
            <a:off x="1143000" y="551434"/>
            <a:ext cx="4711319" cy="553998"/>
          </a:xfrm>
        </p:spPr>
        <p:txBody>
          <a:bodyPr/>
          <a:lstStyle/>
          <a:p>
            <a:r>
              <a:rPr lang="en-GB" dirty="0"/>
              <a:t>TABLES:</a:t>
            </a:r>
            <a:endParaRPr lang="en-IN" dirty="0"/>
          </a:p>
        </p:txBody>
      </p:sp>
      <p:pic>
        <p:nvPicPr>
          <p:cNvPr id="5" name="Picture 4">
            <a:extLst>
              <a:ext uri="{FF2B5EF4-FFF2-40B4-BE49-F238E27FC236}">
                <a16:creationId xmlns:a16="http://schemas.microsoft.com/office/drawing/2014/main" id="{D191C58E-7543-D37A-D250-9E4CB40A6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679" y="1880971"/>
            <a:ext cx="7468642" cy="3096057"/>
          </a:xfrm>
          <a:prstGeom prst="rect">
            <a:avLst/>
          </a:prstGeom>
        </p:spPr>
      </p:pic>
    </p:spTree>
    <p:extLst>
      <p:ext uri="{BB962C8B-B14F-4D97-AF65-F5344CB8AC3E}">
        <p14:creationId xmlns:p14="http://schemas.microsoft.com/office/powerpoint/2010/main" val="3070951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00287F-E14A-0F00-7B35-BAC207596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533400"/>
            <a:ext cx="4544059" cy="2143424"/>
          </a:xfrm>
          <a:prstGeom prst="rect">
            <a:avLst/>
          </a:prstGeom>
        </p:spPr>
      </p:pic>
      <p:pic>
        <p:nvPicPr>
          <p:cNvPr id="7" name="Picture 6">
            <a:extLst>
              <a:ext uri="{FF2B5EF4-FFF2-40B4-BE49-F238E27FC236}">
                <a16:creationId xmlns:a16="http://schemas.microsoft.com/office/drawing/2014/main" id="{79BE9B82-5664-27B9-27BF-DAAD1E310D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9347" y="3200400"/>
            <a:ext cx="4563112" cy="2448267"/>
          </a:xfrm>
          <a:prstGeom prst="rect">
            <a:avLst/>
          </a:prstGeom>
        </p:spPr>
      </p:pic>
    </p:spTree>
    <p:extLst>
      <p:ext uri="{BB962C8B-B14F-4D97-AF65-F5344CB8AC3E}">
        <p14:creationId xmlns:p14="http://schemas.microsoft.com/office/powerpoint/2010/main" val="17907968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75DDD2-A277-DF9B-FE72-F4003A123D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685800"/>
            <a:ext cx="5220429" cy="2572109"/>
          </a:xfrm>
          <a:prstGeom prst="rect">
            <a:avLst/>
          </a:prstGeom>
        </p:spPr>
      </p:pic>
      <p:pic>
        <p:nvPicPr>
          <p:cNvPr id="7" name="Picture 6">
            <a:extLst>
              <a:ext uri="{FF2B5EF4-FFF2-40B4-BE49-F238E27FC236}">
                <a16:creationId xmlns:a16="http://schemas.microsoft.com/office/drawing/2014/main" id="{9B597B82-C204-8370-F3B6-CBBE0C5CAC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3046" y="3886200"/>
            <a:ext cx="5801535" cy="1543265"/>
          </a:xfrm>
          <a:prstGeom prst="rect">
            <a:avLst/>
          </a:prstGeom>
        </p:spPr>
      </p:pic>
    </p:spTree>
    <p:extLst>
      <p:ext uri="{BB962C8B-B14F-4D97-AF65-F5344CB8AC3E}">
        <p14:creationId xmlns:p14="http://schemas.microsoft.com/office/powerpoint/2010/main" val="1835967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207E14-BBF4-102E-4D48-5C9997F64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4575" y="1295400"/>
            <a:ext cx="5734850" cy="1657581"/>
          </a:xfrm>
          <a:prstGeom prst="rect">
            <a:avLst/>
          </a:prstGeom>
        </p:spPr>
      </p:pic>
      <p:pic>
        <p:nvPicPr>
          <p:cNvPr id="7" name="Picture 6">
            <a:extLst>
              <a:ext uri="{FF2B5EF4-FFF2-40B4-BE49-F238E27FC236}">
                <a16:creationId xmlns:a16="http://schemas.microsoft.com/office/drawing/2014/main" id="{4A994A83-2466-052D-4138-D19E5C6955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3429000"/>
            <a:ext cx="4801270" cy="1790950"/>
          </a:xfrm>
          <a:prstGeom prst="rect">
            <a:avLst/>
          </a:prstGeom>
        </p:spPr>
      </p:pic>
    </p:spTree>
    <p:extLst>
      <p:ext uri="{BB962C8B-B14F-4D97-AF65-F5344CB8AC3E}">
        <p14:creationId xmlns:p14="http://schemas.microsoft.com/office/powerpoint/2010/main" val="33314607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01E97E-5BC9-F406-A590-F6A32A0E26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533400"/>
            <a:ext cx="4172532" cy="2591162"/>
          </a:xfrm>
          <a:prstGeom prst="rect">
            <a:avLst/>
          </a:prstGeom>
        </p:spPr>
      </p:pic>
      <p:pic>
        <p:nvPicPr>
          <p:cNvPr id="7" name="Picture 6">
            <a:extLst>
              <a:ext uri="{FF2B5EF4-FFF2-40B4-BE49-F238E27FC236}">
                <a16:creationId xmlns:a16="http://schemas.microsoft.com/office/drawing/2014/main" id="{0A1341D0-DCD1-3A89-A9FC-A7108DBE9F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4038600"/>
            <a:ext cx="5849166" cy="1724266"/>
          </a:xfrm>
          <a:prstGeom prst="rect">
            <a:avLst/>
          </a:prstGeom>
        </p:spPr>
      </p:pic>
    </p:spTree>
    <p:extLst>
      <p:ext uri="{BB962C8B-B14F-4D97-AF65-F5344CB8AC3E}">
        <p14:creationId xmlns:p14="http://schemas.microsoft.com/office/powerpoint/2010/main" val="2376278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233</TotalTime>
  <Words>769</Words>
  <Application>Microsoft Office PowerPoint</Application>
  <PresentationFormat>On-screen Show (4:3)</PresentationFormat>
  <Paragraphs>170</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Arial MT</vt:lpstr>
      <vt:lpstr>Times New Roman</vt:lpstr>
      <vt:lpstr>Verdana</vt:lpstr>
      <vt:lpstr>Office Theme</vt:lpstr>
      <vt:lpstr>             ORDER  MANAGEMENT  SYSTEM</vt:lpstr>
      <vt:lpstr>Problem Statement</vt:lpstr>
      <vt:lpstr>Objective</vt:lpstr>
      <vt:lpstr>Outcome</vt:lpstr>
      <vt:lpstr>Input</vt:lpstr>
      <vt:lpstr>Output</vt:lpstr>
      <vt:lpstr>Flow 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 Diagrams</vt:lpstr>
      <vt:lpstr>Schema Diagram</vt:lpstr>
      <vt:lpstr>IMPLEMENTATION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CODING:</vt:lpstr>
      <vt:lpstr>TABLES: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rightgen2</dc:creator>
  <cp:lastModifiedBy>ELAKKIYAN T</cp:lastModifiedBy>
  <cp:revision>19</cp:revision>
  <dcterms:created xsi:type="dcterms:W3CDTF">2026-01-21T15:58:51Z</dcterms:created>
  <dcterms:modified xsi:type="dcterms:W3CDTF">2026-04-16T11:00:13Z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2026-01-21T00:00:00Z</vt:filetime>
  </property>
  <property fmtid="{D5CDD505-2E9C-101B-9397-08002B2CF9AE}" pid="3" name="Creator">
    <vt:lpwstr>Microsoft® PowerPoint® 2021</vt:lpwstr>
  </property>
  <property fmtid="{D5CDD505-2E9C-101B-9397-08002B2CF9AE}" pid="4" name="LastSaved">
    <vt:filetime>2026-01-21T00:00:00Z</vt:filetime>
  </property>
  <property fmtid="{D5CDD505-2E9C-101B-9397-08002B2CF9AE}" pid="5" name="Producer">
    <vt:lpwstr>Microsoft® PowerPoint® 2021</vt:lpwstr>
  </property>
</Properties>
</file>